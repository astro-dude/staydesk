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ea9f8fb-4371-6333-048d-8ca7c7852150}">
          <p14:sldIdLst>
            <p14:sldId id="256"/>
            <p14:sldId id="257"/>
            <p14:sldId id="258"/>
          </p14:sldIdLst>
        </p14:section>
        <p14:section name="Build and ship" id="{0d69da8c-8431-7f07-ffc5-3fdb124c89ed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Run on AWS" id="{41a790ae-5e18-d8ba-74a5-19bf2391251c}">
          <p14:sldIdLst>
            <p14:sldId id="265"/>
            <p14:sldId id="266"/>
            <p14:sldId id="267"/>
            <p14:sldId id="268"/>
            <p14:sldId id="269"/>
          </p14:sldIdLst>
        </p14:section>
        <p14:section name="Operate" id="{bd16c339-fb08-3c10-d633-6989e0f95302}">
          <p14:sldIdLst>
            <p14:sldId id="270"/>
            <p14:sldId id="271"/>
          </p14:sldIdLst>
        </p14:section>
        <p14:section name="Troubleshooting" id="{3f7f382f-f6a6-741d-b4cf-e8a1269fe508}">
          <p14:sldIdLst>
            <p14:sldId id="272"/>
            <p14:sldId id="273"/>
          </p14:sldIdLst>
        </p14:section>
        <p14:section name="Close" id="{9308a206-b733-798b-f658-559ed50ea60b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2B2F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F2B2F"/>
                </a:solidFill>
                <a:latin typeface="+mn-lt"/>
              </a:rPr>
              <a:t>Commits by type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Commits</c:v>
                </c:pt>
              </c:strCache>
            </c:strRef>
          </c:tx>
          <c:spPr>
            <a:solidFill>
              <a:srgbClr val="1D6B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62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docs</c:v>
                  </c:pt>
                  <c:pt idx="1">
                    <c:v>feat</c:v>
                  </c:pt>
                  <c:pt idx="2">
                    <c:v>fix</c:v>
                  </c:pt>
                  <c:pt idx="3">
                    <c:v>test</c:v>
                  </c:pt>
                  <c:pt idx="4">
                    <c:v>ci</c:v>
                  </c:pt>
                  <c:pt idx="5">
                    <c:v>chore</c:v>
                  </c:pt>
                  <c:pt idx="6">
                    <c:v>infra</c:v>
                  </c:pt>
                  <c:pt idx="7">
                    <c:v>deploy</c:v>
                  </c:pt>
                  <c:pt idx="8">
                    <c:v>build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</c:v>
                </c:pt>
                <c:pt idx="1">
                  <c:v>5</c:v>
                </c:pt>
                <c:pt idx="2">
                  <c:v>4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62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A747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StayDesk: a hotel front-desk app built for this capstone (my own domain, not the TaskBoard reference). The point of the talk is the journey from a commit on my laptop to a monitored, autoscaled deployment on AWS EKS. I'll walk the 13 stages from the brief, in order, and show real evidence from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path the brief asks every student to demonstrate. Top row is the developer side: app, git, CI, Docker image, security scan, registry. Bottom row is the platform side: Terraform builds AWS, Kubernetes + Helm run the app, Ingress exposes it, HPA scales it, Prometheus/Grafana watch it, and I finish with troubleshooting.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headline numbers. Every one of these is backed by a screenshot in docs/EVIDENCE.md in the repo. The AWS run was deliberately short: build, deploy, prove, destroy.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open the app, create a reservation (only free rooms are offered for the dates), check a guest in. Point out business rules enforced in the API and covered by tests: overlap detection, capacity, status transitions, check-out marks the room dirty. Swagger at /docs shows all 20 endpoints.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make a small visible change (e.g. the dashboard greeting), git commit with a feat:/fix: message, git push. That push is what starts the pipeline on the next slide. Commit types follow the conventional style so the history reads like a changelog.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GitHub → Actions → the run triggered by my push. Jobs: backend lint + pytest, frontend build, IaC report, image build+scan+push (matrix), then two deploys. Why pin actions by SHA: in March 2026 attackers force-pushed 76 of 77 trivy-action tags to credential-stealing code; a SHA can't be moved.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Multi-stage builds keep build tools out of runtime images. Both containers run as non-root (M4 requirement), shown at the bottom of the capture with `id`. docker compose up --build runs the whole stack locally with one command; backend waits for Postgres to be healthy, frontend waits for the backend.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result: Trivy checked the Debian/Alpine packages and every Python library; nothing HIGH/CRITICAL with a fix available. Small images help: no pip or compilers in the backend runtime, no Node in the frontend runtime. Image scanning is one layer next to dependency pinning, secret hygiene, IaC scanning and runtime hardening (non-root, read-only filesystems, restricted Pod Security).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GitHub Container Registry, pushed with the workflow's own GITHUB_TOKEN. Tag = commit SHA, so rollback = redeploy an older SHA, and `kubectl describe pod` tells you exactly which commit is running. The UI sidebar also prints the SHA of both containers.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terraform/: vpc.tf (2 public + 2 private subnets across two AZs, single NAT to save cost, ELB tags), eks.tf (EKS 1.35, managed node group, add-ons: VPC CNI, CoreDNS, kube-proxy, Pod Identity, EBS CSI with a default gp3 StorageClass, metrics-server), iam-github-oidc.tf (the role CI assumes). Kubernetes runs workloads; Terraform builds the platform underneath it. Infrastructure is reviewed as code instead of clicked in the console.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AWS Console captures from the run (account 290971955241). Taken with a temporary read-only federated session, so no console password was shared. After the demo everything was destroyed: 61 resources, total cost about forty cents of free-plan credits.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kubectl get pods,svc -n staydesk. Deployments keep replicas alive; Services give stable names in front of ephemeral pods (frontend → staydesk-backend). The deploy job never sees an AWS key: GitHub's OIDC token is exchanged for a role scoped to this repo's main branch, and that role has an EKS access entry.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helm list -n staydesk, helm history. Instead of many hand-edited YAML files, one chart with values per environment. The same chart deploys to kind in CI and to EKS. Concepts: chart, values, templates, release, upgrade, rollback.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open the app through the load balancer hostname (locally: http://staydesk.localhost via kind). The browser only calls relative /api URLs, so it never needs to know an internal hostname. Brand-new AWS accounts can't create NLB/ALB yet, so on EKS Traefik sat behind a Classic Load Balancer.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kubectl get hpa -n staydesk -w in one terminal, ./scripts/load-test.sh in another. HPA needs two things: resource requests on the container and a metrics provider (metrics-server, installed as an EKS add-on by Terraform). The Pending pod is an honest result worth explaining, not hiding.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Prometheus → Status → Targets (staydesk-backend UP), then Grafana → StayDesk · API overview. Panels: request rate per endpoint, p50/p95 latency, status classes, reservation events, CPU per pod against its request, and HPA replicas. Good questions it answers: how much traffic, which endpoint is slow, are errors increasing, is the HPA scaling.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FAILURE: kubectl apply -f troubleshooting/broken-service.yaml → kubectl get svc (has a ClusterIP) → kubectl get endpointslices (empty) → kubectl get pods --show-labels → the selector asks for component=api, pods are component=backend → patch the selector → endpoints appear. Key lesson: a Service selects pods by label; no match, no endpoints, no traffic.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debugging stories from the real AWS run: read the event or log, find the root cause, fix it in code, not by hand. The OIDC one was found by reading CloudTrail: GitHub sent repo:Astro-Dude@&lt;id&gt;/staydesk@&lt;id&gt;:ref:refs/heads/main.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handing over to the live demo: commit → pipeline → deployment update (the sidebar SHA changes), then load test with the HPA watch, Grafana, and the broken-Service lab.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dark)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48840"/>
            <a:ext cx="56692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5486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g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StayDesk · DevOps Final Capstone · Session 21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371600" y="38404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StayDesk · DevOps Final Capstone · Session 21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(dark)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822960"/>
            <a:ext cx="106984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slideLayout" Target="../slideLayouts/slideLayout4.xml"/><Relationship Id="rId1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jp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5-1.png"/><Relationship Id="rId2" Type="http://schemas.openxmlformats.org/officeDocument/2006/relationships/image" Target="../media/image-5-2.jp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jp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g"/><Relationship Id="rId3" Type="http://schemas.openxmlformats.org/officeDocument/2006/relationships/image" Target="../media/image-11-3.jpg"/><Relationship Id="rId4" Type="http://schemas.openxmlformats.org/officeDocument/2006/relationships/image" Target="../media/image-11-4.jpg"/><Relationship Id="rId5" Type="http://schemas.openxmlformats.org/officeDocument/2006/relationships/image" Target="../media/image-11-5.jpg"/><Relationship Id="rId6" Type="http://schemas.openxmlformats.org/officeDocument/2006/relationships/image" Target="../media/image-11-6.jp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jp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jpg"/><Relationship Id="rId3" Type="http://schemas.openxmlformats.org/officeDocument/2006/relationships/image" Target="../media/image-16-3.jp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 mark"/>
          <p:cNvSpPr/>
          <p:nvPr/>
        </p:nvSpPr>
        <p:spPr>
          <a:xfrm>
            <a:off x="731520" y="960120"/>
            <a:ext cx="685800" cy="6858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" name="brand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124712"/>
            <a:ext cx="356616" cy="356616"/>
          </a:xfrm>
          <a:prstGeom prst="rect">
            <a:avLst/>
          </a:prstGeom>
        </p:spPr>
      </p:pic>
      <p:sp>
        <p:nvSpPr>
          <p:cNvPr id="4" name="eyebrow"/>
          <p:cNvSpPr txBox="1"/>
          <p:nvPr/>
        </p:nvSpPr>
        <p:spPr>
          <a:xfrm>
            <a:off x="1600200" y="10972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2"/>
                </a:solidFill>
              </a:rPr>
              <a:t>DEVOPS FINAL CAPSTONE · SESSION 21</a:t>
            </a:r>
            <a:endParaRPr lang="en-US" sz="14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731520" y="214884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StayDesk</a:t>
            </a:r>
            <a:endParaRPr lang="en-US" sz="60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731520" y="347472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A hotel front-desk app, shipped from a laptop to a monitored, autoscaled Kubernetes cluster on AWS</a:t>
            </a:r>
            <a:endParaRPr lang="en-US" sz="2200" dirty="0"/>
          </a:p>
        </p:txBody>
      </p:sp>
      <p:sp>
        <p:nvSpPr>
          <p:cNvPr id="7" name="presenter"/>
          <p:cNvSpPr txBox="1"/>
          <p:nvPr/>
        </p:nvSpPr>
        <p:spPr>
          <a:xfrm>
            <a:off x="731520" y="50749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Shaurya Verma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github.com/Astro-Dude/staydesk</a:t>
            </a:r>
            <a:endParaRPr lang="en-US" sz="1600" dirty="0"/>
          </a:p>
        </p:txBody>
      </p:sp>
      <p:sp>
        <p:nvSpPr>
          <p:cNvPr id="8" name="title app frame"/>
          <p:cNvSpPr/>
          <p:nvPr/>
        </p:nvSpPr>
        <p:spPr>
          <a:xfrm>
            <a:off x="6675120" y="1371600"/>
            <a:ext cx="5029200" cy="317754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  <a:effectLst>
            <a:outerShdw sx="100000" sy="100000" kx="0" ky="0" algn="bl" rotWithShape="0" blurRad="127000" dist="38100" dir="5400000">
              <a:srgbClr val="0F2B2F">
                <a:alpha val="45000"/>
              </a:srgbClr>
            </a:outerShdw>
          </a:effectLst>
        </p:spPr>
      </p:sp>
      <p:pic>
        <p:nvPicPr>
          <p:cNvPr id="9" name="title app screenshot" descr="Live on Amazon EKS, served through the AWS load balanc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417320"/>
            <a:ext cx="4937760" cy="3086100"/>
          </a:xfrm>
          <a:prstGeom prst="rect">
            <a:avLst/>
          </a:prstGeom>
        </p:spPr>
      </p:pic>
      <p:sp>
        <p:nvSpPr>
          <p:cNvPr id="10" name="title app caption"/>
          <p:cNvSpPr txBox="1"/>
          <p:nvPr/>
        </p:nvSpPr>
        <p:spPr>
          <a:xfrm>
            <a:off x="6720840" y="46222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bg2"/>
                </a:solidFill>
              </a:rPr>
              <a:t>Live on Amazon EKS, served through the AWS load balancer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The journey: 13 stages from commit to cluster</a:t>
            </a:r>
            <a:endParaRPr lang="en-US" sz="3400" dirty="0"/>
          </a:p>
        </p:txBody>
      </p:sp>
      <p:sp>
        <p:nvSpPr>
          <p:cNvPr id="3" name="BUILD AND SHIP label"/>
          <p:cNvSpPr txBox="1"/>
          <p:nvPr/>
        </p:nvSpPr>
        <p:spPr>
          <a:xfrm>
            <a:off x="548640" y="1325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BUILD AND SHIP</a:t>
            </a:r>
            <a:endParaRPr lang="en-US" sz="1200" dirty="0"/>
          </a:p>
        </p:txBody>
      </p:sp>
      <p:sp>
        <p:nvSpPr>
          <p:cNvPr id="4" name="journey 1 circle"/>
          <p:cNvSpPr/>
          <p:nvPr/>
        </p:nvSpPr>
        <p:spPr>
          <a:xfrm>
            <a:off x="906562" y="178308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journey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162" y="2011680"/>
            <a:ext cx="411480" cy="411480"/>
          </a:xfrm>
          <a:prstGeom prst="rect">
            <a:avLst/>
          </a:prstGeom>
        </p:spPr>
      </p:pic>
      <p:sp>
        <p:nvSpPr>
          <p:cNvPr id="6" name="journey 1 label"/>
          <p:cNvSpPr txBox="1"/>
          <p:nvPr/>
        </p:nvSpPr>
        <p:spPr>
          <a:xfrm>
            <a:off x="548640" y="2743200"/>
            <a:ext cx="15845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01</a:t>
            </a:r>
            <a:endParaRPr lang="en-US" sz="13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Application</a:t>
            </a:r>
            <a:endParaRPr lang="en-US" sz="1300" dirty="0"/>
          </a:p>
        </p:txBody>
      </p:sp>
      <p:sp>
        <p:nvSpPr>
          <p:cNvPr id="7" name="journey 1 arrow"/>
          <p:cNvSpPr/>
          <p:nvPr/>
        </p:nvSpPr>
        <p:spPr>
          <a:xfrm>
            <a:off x="1848394" y="2217420"/>
            <a:ext cx="569541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8" name="journey 2 circle"/>
          <p:cNvSpPr/>
          <p:nvPr/>
        </p:nvSpPr>
        <p:spPr>
          <a:xfrm>
            <a:off x="2491087" y="178308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journey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687" y="2011680"/>
            <a:ext cx="411480" cy="411480"/>
          </a:xfrm>
          <a:prstGeom prst="rect">
            <a:avLst/>
          </a:prstGeom>
        </p:spPr>
      </p:pic>
      <p:sp>
        <p:nvSpPr>
          <p:cNvPr id="10" name="journey 2 label"/>
          <p:cNvSpPr txBox="1"/>
          <p:nvPr/>
        </p:nvSpPr>
        <p:spPr>
          <a:xfrm>
            <a:off x="2133165" y="2743200"/>
            <a:ext cx="15845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02</a:t>
            </a:r>
            <a:endParaRPr lang="en-US" sz="13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Git commit</a:t>
            </a:r>
            <a:endParaRPr lang="en-US" sz="1300" dirty="0"/>
          </a:p>
        </p:txBody>
      </p:sp>
      <p:sp>
        <p:nvSpPr>
          <p:cNvPr id="11" name="journey 2 arrow"/>
          <p:cNvSpPr/>
          <p:nvPr/>
        </p:nvSpPr>
        <p:spPr>
          <a:xfrm>
            <a:off x="3432919" y="2217420"/>
            <a:ext cx="569541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2" name="journey 3 circle"/>
          <p:cNvSpPr/>
          <p:nvPr/>
        </p:nvSpPr>
        <p:spPr>
          <a:xfrm>
            <a:off x="4075611" y="178308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journey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4211" y="2011680"/>
            <a:ext cx="411480" cy="411480"/>
          </a:xfrm>
          <a:prstGeom prst="rect">
            <a:avLst/>
          </a:prstGeom>
        </p:spPr>
      </p:pic>
      <p:sp>
        <p:nvSpPr>
          <p:cNvPr id="14" name="journey 3 label"/>
          <p:cNvSpPr txBox="1"/>
          <p:nvPr/>
        </p:nvSpPr>
        <p:spPr>
          <a:xfrm>
            <a:off x="3717689" y="2743200"/>
            <a:ext cx="15845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03</a:t>
            </a:r>
            <a:endParaRPr lang="en-US" sz="13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CI pipeline</a:t>
            </a:r>
            <a:endParaRPr lang="en-US" sz="1300" dirty="0"/>
          </a:p>
        </p:txBody>
      </p:sp>
      <p:sp>
        <p:nvSpPr>
          <p:cNvPr id="15" name="journey 3 arrow"/>
          <p:cNvSpPr/>
          <p:nvPr/>
        </p:nvSpPr>
        <p:spPr>
          <a:xfrm>
            <a:off x="5017443" y="2217420"/>
            <a:ext cx="569541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6" name="journey 4 circle"/>
          <p:cNvSpPr/>
          <p:nvPr/>
        </p:nvSpPr>
        <p:spPr>
          <a:xfrm>
            <a:off x="5660136" y="178308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journey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8736" y="2011680"/>
            <a:ext cx="411480" cy="411480"/>
          </a:xfrm>
          <a:prstGeom prst="rect">
            <a:avLst/>
          </a:prstGeom>
        </p:spPr>
      </p:pic>
      <p:sp>
        <p:nvSpPr>
          <p:cNvPr id="18" name="journey 4 label"/>
          <p:cNvSpPr txBox="1"/>
          <p:nvPr/>
        </p:nvSpPr>
        <p:spPr>
          <a:xfrm>
            <a:off x="5302214" y="2743200"/>
            <a:ext cx="15845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04</a:t>
            </a:r>
            <a:endParaRPr lang="en-US" sz="13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Docker image</a:t>
            </a:r>
            <a:endParaRPr lang="en-US" sz="1300" dirty="0"/>
          </a:p>
        </p:txBody>
      </p:sp>
      <p:sp>
        <p:nvSpPr>
          <p:cNvPr id="19" name="journey 4 arrow"/>
          <p:cNvSpPr/>
          <p:nvPr/>
        </p:nvSpPr>
        <p:spPr>
          <a:xfrm>
            <a:off x="6601968" y="2217420"/>
            <a:ext cx="569541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0" name="journey 5 circle"/>
          <p:cNvSpPr/>
          <p:nvPr/>
        </p:nvSpPr>
        <p:spPr>
          <a:xfrm>
            <a:off x="7244661" y="178308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journey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3261" y="2011680"/>
            <a:ext cx="411480" cy="411480"/>
          </a:xfrm>
          <a:prstGeom prst="rect">
            <a:avLst/>
          </a:prstGeom>
        </p:spPr>
      </p:pic>
      <p:sp>
        <p:nvSpPr>
          <p:cNvPr id="22" name="journey 5 label"/>
          <p:cNvSpPr txBox="1"/>
          <p:nvPr/>
        </p:nvSpPr>
        <p:spPr>
          <a:xfrm>
            <a:off x="6886738" y="2743200"/>
            <a:ext cx="15845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05</a:t>
            </a:r>
            <a:endParaRPr lang="en-US" sz="13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Security scan</a:t>
            </a:r>
            <a:endParaRPr lang="en-US" sz="1300" dirty="0"/>
          </a:p>
        </p:txBody>
      </p:sp>
      <p:sp>
        <p:nvSpPr>
          <p:cNvPr id="23" name="journey 5 arrow"/>
          <p:cNvSpPr/>
          <p:nvPr/>
        </p:nvSpPr>
        <p:spPr>
          <a:xfrm>
            <a:off x="8186493" y="2217420"/>
            <a:ext cx="569541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4" name="journey 6 circle"/>
          <p:cNvSpPr/>
          <p:nvPr/>
        </p:nvSpPr>
        <p:spPr>
          <a:xfrm>
            <a:off x="8829185" y="178308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journey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7785" y="2011680"/>
            <a:ext cx="411480" cy="411480"/>
          </a:xfrm>
          <a:prstGeom prst="rect">
            <a:avLst/>
          </a:prstGeom>
        </p:spPr>
      </p:pic>
      <p:sp>
        <p:nvSpPr>
          <p:cNvPr id="26" name="journey 6 label"/>
          <p:cNvSpPr txBox="1"/>
          <p:nvPr/>
        </p:nvSpPr>
        <p:spPr>
          <a:xfrm>
            <a:off x="8471263" y="2743200"/>
            <a:ext cx="15845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06</a:t>
            </a:r>
            <a:endParaRPr lang="en-US" sz="13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Registry</a:t>
            </a:r>
            <a:endParaRPr lang="en-US" sz="1300" dirty="0"/>
          </a:p>
        </p:txBody>
      </p:sp>
      <p:sp>
        <p:nvSpPr>
          <p:cNvPr id="27" name="RUN ON AWS AND OPERATE label"/>
          <p:cNvSpPr txBox="1"/>
          <p:nvPr/>
        </p:nvSpPr>
        <p:spPr>
          <a:xfrm>
            <a:off x="548640" y="3429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RUN ON AWS AND OPERATE</a:t>
            </a:r>
            <a:endParaRPr lang="en-US" sz="1200" dirty="0"/>
          </a:p>
        </p:txBody>
      </p:sp>
      <p:sp>
        <p:nvSpPr>
          <p:cNvPr id="28" name="journey 7 circle"/>
          <p:cNvSpPr/>
          <p:nvPr/>
        </p:nvSpPr>
        <p:spPr>
          <a:xfrm>
            <a:off x="906562" y="388620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9" name="journey 7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5162" y="4114800"/>
            <a:ext cx="411480" cy="411480"/>
          </a:xfrm>
          <a:prstGeom prst="rect">
            <a:avLst/>
          </a:prstGeom>
        </p:spPr>
      </p:pic>
      <p:sp>
        <p:nvSpPr>
          <p:cNvPr id="30" name="journey 7 label"/>
          <p:cNvSpPr txBox="1"/>
          <p:nvPr/>
        </p:nvSpPr>
        <p:spPr>
          <a:xfrm>
            <a:off x="548640" y="4846320"/>
            <a:ext cx="15845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07</a:t>
            </a:r>
            <a:endParaRPr lang="en-US" sz="13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Terraform</a:t>
            </a:r>
            <a:endParaRPr lang="en-US" sz="1300" dirty="0"/>
          </a:p>
        </p:txBody>
      </p:sp>
      <p:sp>
        <p:nvSpPr>
          <p:cNvPr id="31" name="journey 7 arrow"/>
          <p:cNvSpPr/>
          <p:nvPr/>
        </p:nvSpPr>
        <p:spPr>
          <a:xfrm>
            <a:off x="1848394" y="4320540"/>
            <a:ext cx="569541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2" name="journey 8 circle"/>
          <p:cNvSpPr/>
          <p:nvPr/>
        </p:nvSpPr>
        <p:spPr>
          <a:xfrm>
            <a:off x="2491087" y="388620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3" name="journey 8 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19687" y="4114800"/>
            <a:ext cx="411480" cy="411480"/>
          </a:xfrm>
          <a:prstGeom prst="rect">
            <a:avLst/>
          </a:prstGeom>
        </p:spPr>
      </p:pic>
      <p:sp>
        <p:nvSpPr>
          <p:cNvPr id="34" name="journey 8 label"/>
          <p:cNvSpPr txBox="1"/>
          <p:nvPr/>
        </p:nvSpPr>
        <p:spPr>
          <a:xfrm>
            <a:off x="2133165" y="4846320"/>
            <a:ext cx="15845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08</a:t>
            </a:r>
            <a:endParaRPr lang="en-US" sz="13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Kubernetes</a:t>
            </a:r>
            <a:endParaRPr lang="en-US" sz="1300" dirty="0"/>
          </a:p>
        </p:txBody>
      </p:sp>
      <p:sp>
        <p:nvSpPr>
          <p:cNvPr id="35" name="journey 8 arrow"/>
          <p:cNvSpPr/>
          <p:nvPr/>
        </p:nvSpPr>
        <p:spPr>
          <a:xfrm>
            <a:off x="3432919" y="4320540"/>
            <a:ext cx="569541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6" name="journey 9 circle"/>
          <p:cNvSpPr/>
          <p:nvPr/>
        </p:nvSpPr>
        <p:spPr>
          <a:xfrm>
            <a:off x="4075611" y="388620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7" name="journey 9 icon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04211" y="4114800"/>
            <a:ext cx="411480" cy="411480"/>
          </a:xfrm>
          <a:prstGeom prst="rect">
            <a:avLst/>
          </a:prstGeom>
        </p:spPr>
      </p:pic>
      <p:sp>
        <p:nvSpPr>
          <p:cNvPr id="38" name="journey 9 label"/>
          <p:cNvSpPr txBox="1"/>
          <p:nvPr/>
        </p:nvSpPr>
        <p:spPr>
          <a:xfrm>
            <a:off x="3717689" y="4846320"/>
            <a:ext cx="15845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09</a:t>
            </a:r>
            <a:endParaRPr lang="en-US" sz="13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Helm</a:t>
            </a:r>
            <a:endParaRPr lang="en-US" sz="1300" dirty="0"/>
          </a:p>
        </p:txBody>
      </p:sp>
      <p:sp>
        <p:nvSpPr>
          <p:cNvPr id="39" name="journey 9 arrow"/>
          <p:cNvSpPr/>
          <p:nvPr/>
        </p:nvSpPr>
        <p:spPr>
          <a:xfrm>
            <a:off x="5017443" y="4320540"/>
            <a:ext cx="569541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40" name="journey 10 circle"/>
          <p:cNvSpPr/>
          <p:nvPr/>
        </p:nvSpPr>
        <p:spPr>
          <a:xfrm>
            <a:off x="5660136" y="388620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1" name="journey 10 icon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88736" y="4114800"/>
            <a:ext cx="411480" cy="411480"/>
          </a:xfrm>
          <a:prstGeom prst="rect">
            <a:avLst/>
          </a:prstGeom>
        </p:spPr>
      </p:pic>
      <p:sp>
        <p:nvSpPr>
          <p:cNvPr id="42" name="journey 10 label"/>
          <p:cNvSpPr txBox="1"/>
          <p:nvPr/>
        </p:nvSpPr>
        <p:spPr>
          <a:xfrm>
            <a:off x="5302214" y="4846320"/>
            <a:ext cx="15845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10</a:t>
            </a:r>
            <a:endParaRPr lang="en-US" sz="13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Ingress</a:t>
            </a:r>
            <a:endParaRPr lang="en-US" sz="1300" dirty="0"/>
          </a:p>
        </p:txBody>
      </p:sp>
      <p:sp>
        <p:nvSpPr>
          <p:cNvPr id="43" name="journey 10 arrow"/>
          <p:cNvSpPr/>
          <p:nvPr/>
        </p:nvSpPr>
        <p:spPr>
          <a:xfrm>
            <a:off x="6601968" y="4320540"/>
            <a:ext cx="569541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44" name="journey 11 circle"/>
          <p:cNvSpPr/>
          <p:nvPr/>
        </p:nvSpPr>
        <p:spPr>
          <a:xfrm>
            <a:off x="7244661" y="388620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5" name="journey 11 icon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73261" y="4114800"/>
            <a:ext cx="411480" cy="411480"/>
          </a:xfrm>
          <a:prstGeom prst="rect">
            <a:avLst/>
          </a:prstGeom>
        </p:spPr>
      </p:pic>
      <p:sp>
        <p:nvSpPr>
          <p:cNvPr id="46" name="journey 11 label"/>
          <p:cNvSpPr txBox="1"/>
          <p:nvPr/>
        </p:nvSpPr>
        <p:spPr>
          <a:xfrm>
            <a:off x="6886738" y="4846320"/>
            <a:ext cx="15845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11</a:t>
            </a:r>
            <a:endParaRPr lang="en-US" sz="13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Autoscaling</a:t>
            </a:r>
            <a:endParaRPr lang="en-US" sz="1300" dirty="0"/>
          </a:p>
        </p:txBody>
      </p:sp>
      <p:sp>
        <p:nvSpPr>
          <p:cNvPr id="47" name="journey 11 arrow"/>
          <p:cNvSpPr/>
          <p:nvPr/>
        </p:nvSpPr>
        <p:spPr>
          <a:xfrm>
            <a:off x="8186493" y="4320540"/>
            <a:ext cx="569541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48" name="journey 12 circle"/>
          <p:cNvSpPr/>
          <p:nvPr/>
        </p:nvSpPr>
        <p:spPr>
          <a:xfrm>
            <a:off x="8829185" y="388620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9" name="journey 12 icon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57785" y="4114800"/>
            <a:ext cx="411480" cy="411480"/>
          </a:xfrm>
          <a:prstGeom prst="rect">
            <a:avLst/>
          </a:prstGeom>
        </p:spPr>
      </p:pic>
      <p:sp>
        <p:nvSpPr>
          <p:cNvPr id="50" name="journey 12 label"/>
          <p:cNvSpPr txBox="1"/>
          <p:nvPr/>
        </p:nvSpPr>
        <p:spPr>
          <a:xfrm>
            <a:off x="8471263" y="4846320"/>
            <a:ext cx="15845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12</a:t>
            </a:r>
            <a:endParaRPr lang="en-US" sz="13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Monitoring</a:t>
            </a:r>
            <a:endParaRPr lang="en-US" sz="1300" dirty="0"/>
          </a:p>
        </p:txBody>
      </p:sp>
      <p:sp>
        <p:nvSpPr>
          <p:cNvPr id="51" name="journey 12 arrow"/>
          <p:cNvSpPr/>
          <p:nvPr/>
        </p:nvSpPr>
        <p:spPr>
          <a:xfrm>
            <a:off x="9771017" y="4320540"/>
            <a:ext cx="569541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52" name="journey 13 circle"/>
          <p:cNvSpPr/>
          <p:nvPr/>
        </p:nvSpPr>
        <p:spPr>
          <a:xfrm>
            <a:off x="10413710" y="388620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3" name="journey 13 icon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42310" y="4114800"/>
            <a:ext cx="411480" cy="411480"/>
          </a:xfrm>
          <a:prstGeom prst="rect">
            <a:avLst/>
          </a:prstGeom>
        </p:spPr>
      </p:pic>
      <p:sp>
        <p:nvSpPr>
          <p:cNvPr id="54" name="journey 13 label"/>
          <p:cNvSpPr txBox="1"/>
          <p:nvPr/>
        </p:nvSpPr>
        <p:spPr>
          <a:xfrm>
            <a:off x="10055787" y="4846320"/>
            <a:ext cx="15845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13</a:t>
            </a:r>
            <a:endParaRPr lang="en-US" sz="13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Troubleshooting</a:t>
            </a:r>
            <a:endParaRPr lang="en-US" sz="1300" dirty="0"/>
          </a:p>
        </p:txBody>
      </p:sp>
      <p:sp>
        <p:nvSpPr>
          <p:cNvPr id="55" name="journey footnote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Each stage below shows what I built, why it exists, and a real capture from the running system.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At a glance</a:t>
            </a:r>
            <a:endParaRPr lang="en-US" sz="3400" dirty="0"/>
          </a:p>
        </p:txBody>
      </p:sp>
      <p:sp>
        <p:nvSpPr>
          <p:cNvPr id="3" name="stat card 1"/>
          <p:cNvSpPr/>
          <p:nvPr/>
        </p:nvSpPr>
        <p:spPr>
          <a:xfrm>
            <a:off x="548640" y="1463040"/>
            <a:ext cx="3502152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at 1 value"/>
          <p:cNvSpPr txBox="1"/>
          <p:nvPr/>
        </p:nvSpPr>
        <p:spPr>
          <a:xfrm>
            <a:off x="868680" y="1783080"/>
            <a:ext cx="2862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 tests</a:t>
            </a:r>
            <a:endParaRPr lang="en-US" sz="4400" dirty="0"/>
          </a:p>
        </p:txBody>
      </p:sp>
      <p:sp>
        <p:nvSpPr>
          <p:cNvPr id="5" name="stat 1 label"/>
          <p:cNvSpPr txBox="1"/>
          <p:nvPr/>
        </p:nvSpPr>
        <p:spPr>
          <a:xfrm>
            <a:off x="868680" y="2743200"/>
            <a:ext cx="2862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pytest on an isolated database · 97% coverage</a:t>
            </a:r>
            <a:endParaRPr lang="en-US" sz="1500" dirty="0"/>
          </a:p>
        </p:txBody>
      </p:sp>
      <p:sp>
        <p:nvSpPr>
          <p:cNvPr id="6" name="stat card 2"/>
          <p:cNvSpPr/>
          <p:nvPr/>
        </p:nvSpPr>
        <p:spPr>
          <a:xfrm>
            <a:off x="4343400" y="1463040"/>
            <a:ext cx="3502152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tat 2 value"/>
          <p:cNvSpPr txBox="1"/>
          <p:nvPr/>
        </p:nvSpPr>
        <p:spPr>
          <a:xfrm>
            <a:off x="4663440" y="1783080"/>
            <a:ext cx="2862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CVEs</a:t>
            </a:r>
            <a:endParaRPr lang="en-US" sz="4400" dirty="0"/>
          </a:p>
        </p:txBody>
      </p:sp>
      <p:sp>
        <p:nvSpPr>
          <p:cNvPr id="8" name="stat 2 label"/>
          <p:cNvSpPr txBox="1"/>
          <p:nvPr/>
        </p:nvSpPr>
        <p:spPr>
          <a:xfrm>
            <a:off x="4663440" y="2743200"/>
            <a:ext cx="2862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fixable HIGH or CRITICAL in either image (Trivy)</a:t>
            </a:r>
            <a:endParaRPr lang="en-US" sz="1500" dirty="0"/>
          </a:p>
        </p:txBody>
      </p:sp>
      <p:sp>
        <p:nvSpPr>
          <p:cNvPr id="9" name="stat card 3"/>
          <p:cNvSpPr/>
          <p:nvPr/>
        </p:nvSpPr>
        <p:spPr>
          <a:xfrm>
            <a:off x="8138160" y="1463040"/>
            <a:ext cx="3502152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at 3 value"/>
          <p:cNvSpPr txBox="1"/>
          <p:nvPr/>
        </p:nvSpPr>
        <p:spPr>
          <a:xfrm>
            <a:off x="8458200" y="1783080"/>
            <a:ext cx="2862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3m 21s</a:t>
            </a:r>
            <a:endParaRPr lang="en-US" sz="4400" dirty="0"/>
          </a:p>
        </p:txBody>
      </p:sp>
      <p:sp>
        <p:nvSpPr>
          <p:cNvPr id="11" name="stat 3 label"/>
          <p:cNvSpPr txBox="1"/>
          <p:nvPr/>
        </p:nvSpPr>
        <p:spPr>
          <a:xfrm>
            <a:off x="8458200" y="2743200"/>
            <a:ext cx="2862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from git push to running on EKS (pipeline run #5)</a:t>
            </a:r>
            <a:endParaRPr lang="en-US" sz="1500" dirty="0"/>
          </a:p>
        </p:txBody>
      </p:sp>
      <p:sp>
        <p:nvSpPr>
          <p:cNvPr id="12" name="stat card 4"/>
          <p:cNvSpPr/>
          <p:nvPr/>
        </p:nvSpPr>
        <p:spPr>
          <a:xfrm>
            <a:off x="548640" y="3858768"/>
            <a:ext cx="3502152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tat 4 value"/>
          <p:cNvSpPr txBox="1"/>
          <p:nvPr/>
        </p:nvSpPr>
        <p:spPr>
          <a:xfrm>
            <a:off x="868680" y="4178808"/>
            <a:ext cx="2862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en-US" sz="4400" dirty="0"/>
          </a:p>
        </p:txBody>
      </p:sp>
      <p:sp>
        <p:nvSpPr>
          <p:cNvPr id="14" name="stat 4 label"/>
          <p:cNvSpPr txBox="1"/>
          <p:nvPr/>
        </p:nvSpPr>
        <p:spPr>
          <a:xfrm>
            <a:off x="868680" y="5138928"/>
            <a:ext cx="2862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AWS resources created by Terraform, then destroyed</a:t>
            </a:r>
            <a:endParaRPr lang="en-US" sz="1500" dirty="0"/>
          </a:p>
        </p:txBody>
      </p:sp>
      <p:sp>
        <p:nvSpPr>
          <p:cNvPr id="15" name="stat card 5"/>
          <p:cNvSpPr/>
          <p:nvPr/>
        </p:nvSpPr>
        <p:spPr>
          <a:xfrm>
            <a:off x="4343400" y="3858768"/>
            <a:ext cx="3502152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tat 5 value"/>
          <p:cNvSpPr txBox="1"/>
          <p:nvPr/>
        </p:nvSpPr>
        <p:spPr>
          <a:xfrm>
            <a:off x="4663440" y="4178808"/>
            <a:ext cx="2862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→ 6</a:t>
            </a:r>
            <a:endParaRPr lang="en-US" sz="4400" dirty="0"/>
          </a:p>
        </p:txBody>
      </p:sp>
      <p:sp>
        <p:nvSpPr>
          <p:cNvPr id="17" name="stat 5 label"/>
          <p:cNvSpPr txBox="1"/>
          <p:nvPr/>
        </p:nvSpPr>
        <p:spPr>
          <a:xfrm>
            <a:off x="4663440" y="5138928"/>
            <a:ext cx="2862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backend pods added by the HPA under load</a:t>
            </a:r>
            <a:endParaRPr lang="en-US" sz="1500" dirty="0"/>
          </a:p>
        </p:txBody>
      </p:sp>
      <p:sp>
        <p:nvSpPr>
          <p:cNvPr id="18" name="stat card 6"/>
          <p:cNvSpPr/>
          <p:nvPr/>
        </p:nvSpPr>
        <p:spPr>
          <a:xfrm>
            <a:off x="8138160" y="3858768"/>
            <a:ext cx="3502152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tat 6 value"/>
          <p:cNvSpPr txBox="1"/>
          <p:nvPr/>
        </p:nvSpPr>
        <p:spPr>
          <a:xfrm>
            <a:off x="8458200" y="4178808"/>
            <a:ext cx="2862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$0.40</a:t>
            </a:r>
            <a:endParaRPr lang="en-US" sz="4400" dirty="0"/>
          </a:p>
        </p:txBody>
      </p:sp>
      <p:sp>
        <p:nvSpPr>
          <p:cNvPr id="20" name="stat 6 label"/>
          <p:cNvSpPr txBox="1"/>
          <p:nvPr/>
        </p:nvSpPr>
        <p:spPr>
          <a:xfrm>
            <a:off x="8458200" y="5138928"/>
            <a:ext cx="2862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total AWS cost, paid from free-plan credits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371600" y="38404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Application: a real front-desk workflow</a:t>
            </a:r>
            <a:endParaRPr lang="en-US" sz="3400" dirty="0"/>
          </a:p>
        </p:txBody>
      </p:sp>
      <p:sp>
        <p:nvSpPr>
          <p:cNvPr id="3" name="stage badge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stage icon" descr="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47472" cy="347472"/>
          </a:xfrm>
          <a:prstGeom prst="rect">
            <a:avLst/>
          </a:prstGeom>
        </p:spPr>
      </p:pic>
      <p:sp>
        <p:nvSpPr>
          <p:cNvPr id="5" name="tracker 1"/>
          <p:cNvSpPr/>
          <p:nvPr/>
        </p:nvSpPr>
        <p:spPr>
          <a:xfrm>
            <a:off x="4681728" y="6428232"/>
            <a:ext cx="173736" cy="173736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6" name="tracker 2"/>
          <p:cNvSpPr/>
          <p:nvPr/>
        </p:nvSpPr>
        <p:spPr>
          <a:xfrm>
            <a:off x="4928616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7" name="tracker 3"/>
          <p:cNvSpPr/>
          <p:nvPr/>
        </p:nvSpPr>
        <p:spPr>
          <a:xfrm>
            <a:off x="5148072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8" name="tracker 4"/>
          <p:cNvSpPr/>
          <p:nvPr/>
        </p:nvSpPr>
        <p:spPr>
          <a:xfrm>
            <a:off x="5367528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9" name="tracker 5"/>
          <p:cNvSpPr/>
          <p:nvPr/>
        </p:nvSpPr>
        <p:spPr>
          <a:xfrm>
            <a:off x="5586984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0" name="tracker 6"/>
          <p:cNvSpPr/>
          <p:nvPr/>
        </p:nvSpPr>
        <p:spPr>
          <a:xfrm>
            <a:off x="5806440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1" name="tracker 7"/>
          <p:cNvSpPr/>
          <p:nvPr/>
        </p:nvSpPr>
        <p:spPr>
          <a:xfrm>
            <a:off x="6025896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2" name="tracker 8"/>
          <p:cNvSpPr/>
          <p:nvPr/>
        </p:nvSpPr>
        <p:spPr>
          <a:xfrm>
            <a:off x="6245352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3" name="tracker 9"/>
          <p:cNvSpPr/>
          <p:nvPr/>
        </p:nvSpPr>
        <p:spPr>
          <a:xfrm>
            <a:off x="6464808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4" name="tracker 10"/>
          <p:cNvSpPr/>
          <p:nvPr/>
        </p:nvSpPr>
        <p:spPr>
          <a:xfrm>
            <a:off x="6684264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5" name="tracker 11"/>
          <p:cNvSpPr/>
          <p:nvPr/>
        </p:nvSpPr>
        <p:spPr>
          <a:xfrm>
            <a:off x="6903720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6" name="tracker 12"/>
          <p:cNvSpPr/>
          <p:nvPr/>
        </p:nvSpPr>
        <p:spPr>
          <a:xfrm>
            <a:off x="7123176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7" name="tracker 13"/>
          <p:cNvSpPr/>
          <p:nvPr/>
        </p:nvSpPr>
        <p:spPr>
          <a:xfrm>
            <a:off x="7342632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8" name="tracker label"/>
          <p:cNvSpPr txBox="1"/>
          <p:nvPr/>
        </p:nvSpPr>
        <p:spPr>
          <a:xfrm>
            <a:off x="7653528" y="63916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Stage 1 of 13 · Application</a:t>
            </a:r>
            <a:endParaRPr lang="en-US" sz="1000" dirty="0"/>
          </a:p>
        </p:txBody>
      </p:sp>
      <p:sp>
        <p:nvSpPr>
          <p:cNvPr id="19" name="app intro"/>
          <p:cNvSpPr txBox="1"/>
          <p:nvPr/>
        </p:nvSpPr>
        <p:spPr>
          <a:xfrm>
            <a:off x="548640" y="137160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Staff see occupancy at a glance, take bookings safely and keep housekeeping in step.</a:t>
            </a:r>
            <a:endParaRPr lang="en-US" sz="1600" dirty="0"/>
          </a:p>
        </p:txBody>
      </p:sp>
      <p:sp>
        <p:nvSpPr>
          <p:cNvPr id="20" name="rule 1 icon circle"/>
          <p:cNvSpPr/>
          <p:nvPr/>
        </p:nvSpPr>
        <p:spPr>
          <a:xfrm>
            <a:off x="548640" y="2286000"/>
            <a:ext cx="530352" cy="530352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1" name="rule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414016"/>
            <a:ext cx="274320" cy="274320"/>
          </a:xfrm>
          <a:prstGeom prst="rect">
            <a:avLst/>
          </a:prstGeom>
        </p:spPr>
      </p:pic>
      <p:sp>
        <p:nvSpPr>
          <p:cNvPr id="22" name="rule 1 text"/>
          <p:cNvSpPr txBox="1"/>
          <p:nvPr/>
        </p:nvSpPr>
        <p:spPr>
          <a:xfrm>
            <a:off x="1261872" y="2249424"/>
            <a:ext cx="34930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No double bookings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Overlap check per room; the check-out day is free for the next guest</a:t>
            </a:r>
            <a:endParaRPr lang="en-US" sz="1600" dirty="0"/>
          </a:p>
        </p:txBody>
      </p:sp>
      <p:sp>
        <p:nvSpPr>
          <p:cNvPr id="23" name="rule 2 icon circle"/>
          <p:cNvSpPr/>
          <p:nvPr/>
        </p:nvSpPr>
        <p:spPr>
          <a:xfrm>
            <a:off x="548640" y="3291840"/>
            <a:ext cx="530352" cy="530352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4" name="rule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3419856"/>
            <a:ext cx="274320" cy="274320"/>
          </a:xfrm>
          <a:prstGeom prst="rect">
            <a:avLst/>
          </a:prstGeom>
        </p:spPr>
      </p:pic>
      <p:sp>
        <p:nvSpPr>
          <p:cNvPr id="25" name="rule 2 text"/>
          <p:cNvSpPr txBox="1"/>
          <p:nvPr/>
        </p:nvSpPr>
        <p:spPr>
          <a:xfrm>
            <a:off x="1261872" y="3255264"/>
            <a:ext cx="34930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 real status flow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Booked → checked in → checked out; check-out marks the room dirty</a:t>
            </a:r>
            <a:endParaRPr lang="en-US" sz="1600" dirty="0"/>
          </a:p>
        </p:txBody>
      </p:sp>
      <p:sp>
        <p:nvSpPr>
          <p:cNvPr id="26" name="rule 3 icon circle"/>
          <p:cNvSpPr/>
          <p:nvPr/>
        </p:nvSpPr>
        <p:spPr>
          <a:xfrm>
            <a:off x="548640" y="4297680"/>
            <a:ext cx="530352" cy="530352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7" name="rule 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4425696"/>
            <a:ext cx="274320" cy="274320"/>
          </a:xfrm>
          <a:prstGeom prst="rect">
            <a:avLst/>
          </a:prstGeom>
        </p:spPr>
      </p:pic>
      <p:sp>
        <p:nvSpPr>
          <p:cNvPr id="28" name="rule 3 text"/>
          <p:cNvSpPr txBox="1"/>
          <p:nvPr/>
        </p:nvSpPr>
        <p:spPr>
          <a:xfrm>
            <a:off x="1261872" y="4261104"/>
            <a:ext cx="34930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Stack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React 19 + Vite · FastAPI · PostgreSQL 17 · Alembic · 20 REST endpoints</a:t>
            </a:r>
            <a:endParaRPr lang="en-US" sz="1600" dirty="0"/>
          </a:p>
        </p:txBody>
      </p:sp>
      <p:sp>
        <p:nvSpPr>
          <p:cNvPr id="29" name="app dashboard frame"/>
          <p:cNvSpPr/>
          <p:nvPr/>
        </p:nvSpPr>
        <p:spPr>
          <a:xfrm>
            <a:off x="5029200" y="1325880"/>
            <a:ext cx="6656832" cy="419481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  <a:effectLst>
            <a:outerShdw sx="100000" sy="100000" kx="0" ky="0" algn="bl" rotWithShape="0" blurRad="127000" dist="38100" dir="5400000">
              <a:srgbClr val="0F2B2F">
                <a:alpha val="16000"/>
              </a:srgbClr>
            </a:outerShdw>
          </a:effectLst>
        </p:spPr>
      </p:sp>
      <p:pic>
        <p:nvPicPr>
          <p:cNvPr id="30" name="app dashboard screenshot" descr="Dashboard served from EKS · the sidebar shows the deployed build (fbdd61b)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1371600"/>
            <a:ext cx="6565392" cy="4103370"/>
          </a:xfrm>
          <a:prstGeom prst="rect">
            <a:avLst/>
          </a:prstGeom>
        </p:spPr>
      </p:pic>
      <p:sp>
        <p:nvSpPr>
          <p:cNvPr id="31" name="app dashboard caption"/>
          <p:cNvSpPr txBox="1"/>
          <p:nvPr/>
        </p:nvSpPr>
        <p:spPr>
          <a:xfrm>
            <a:off x="5074920" y="5593842"/>
            <a:ext cx="6565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Dashboard served from EKS · the sidebar shows the deployed build (fbdd61b)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371600" y="38404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Git commit: small, described changes</a:t>
            </a:r>
            <a:endParaRPr lang="en-US" sz="3400" dirty="0"/>
          </a:p>
        </p:txBody>
      </p:sp>
      <p:sp>
        <p:nvSpPr>
          <p:cNvPr id="3" name="stage badge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stage icon" descr="Git comm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47472" cy="347472"/>
          </a:xfrm>
          <a:prstGeom prst="rect">
            <a:avLst/>
          </a:prstGeom>
        </p:spPr>
      </p:pic>
      <p:sp>
        <p:nvSpPr>
          <p:cNvPr id="5" name="tracker 1"/>
          <p:cNvSpPr/>
          <p:nvPr/>
        </p:nvSpPr>
        <p:spPr>
          <a:xfrm>
            <a:off x="4709160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6" name="tracker 2"/>
          <p:cNvSpPr/>
          <p:nvPr/>
        </p:nvSpPr>
        <p:spPr>
          <a:xfrm>
            <a:off x="4901184" y="6428232"/>
            <a:ext cx="173736" cy="173736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7" name="tracker 3"/>
          <p:cNvSpPr/>
          <p:nvPr/>
        </p:nvSpPr>
        <p:spPr>
          <a:xfrm>
            <a:off x="5148072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8" name="tracker 4"/>
          <p:cNvSpPr/>
          <p:nvPr/>
        </p:nvSpPr>
        <p:spPr>
          <a:xfrm>
            <a:off x="5367528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9" name="tracker 5"/>
          <p:cNvSpPr/>
          <p:nvPr/>
        </p:nvSpPr>
        <p:spPr>
          <a:xfrm>
            <a:off x="5586984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0" name="tracker 6"/>
          <p:cNvSpPr/>
          <p:nvPr/>
        </p:nvSpPr>
        <p:spPr>
          <a:xfrm>
            <a:off x="5806440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1" name="tracker 7"/>
          <p:cNvSpPr/>
          <p:nvPr/>
        </p:nvSpPr>
        <p:spPr>
          <a:xfrm>
            <a:off x="6025896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2" name="tracker 8"/>
          <p:cNvSpPr/>
          <p:nvPr/>
        </p:nvSpPr>
        <p:spPr>
          <a:xfrm>
            <a:off x="6245352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3" name="tracker 9"/>
          <p:cNvSpPr/>
          <p:nvPr/>
        </p:nvSpPr>
        <p:spPr>
          <a:xfrm>
            <a:off x="6464808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4" name="tracker 10"/>
          <p:cNvSpPr/>
          <p:nvPr/>
        </p:nvSpPr>
        <p:spPr>
          <a:xfrm>
            <a:off x="6684264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5" name="tracker 11"/>
          <p:cNvSpPr/>
          <p:nvPr/>
        </p:nvSpPr>
        <p:spPr>
          <a:xfrm>
            <a:off x="6903720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6" name="tracker 12"/>
          <p:cNvSpPr/>
          <p:nvPr/>
        </p:nvSpPr>
        <p:spPr>
          <a:xfrm>
            <a:off x="7123176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7" name="tracker 13"/>
          <p:cNvSpPr/>
          <p:nvPr/>
        </p:nvSpPr>
        <p:spPr>
          <a:xfrm>
            <a:off x="7342632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8" name="tracker label"/>
          <p:cNvSpPr txBox="1"/>
          <p:nvPr/>
        </p:nvSpPr>
        <p:spPr>
          <a:xfrm>
            <a:off x="7653528" y="63916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Stage 2 of 13 · Git commit</a:t>
            </a:r>
            <a:endParaRPr lang="en-US" sz="1000" dirty="0"/>
          </a:p>
        </p:txBody>
      </p:sp>
      <p:sp>
        <p:nvSpPr>
          <p:cNvPr id="19" name="commit history frame"/>
          <p:cNvSpPr/>
          <p:nvPr/>
        </p:nvSpPr>
        <p:spPr>
          <a:xfrm>
            <a:off x="502920" y="1325880"/>
            <a:ext cx="5943600" cy="4041648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  <a:effectLst>
            <a:outerShdw sx="100000" sy="100000" kx="0" ky="0" algn="bl" rotWithShape="0" blurRad="127000" dist="38100" dir="5400000">
              <a:srgbClr val="0F2B2F">
                <a:alpha val="16000"/>
              </a:srgbClr>
            </a:outerShdw>
          </a:effectLst>
        </p:spPr>
      </p:sp>
      <p:pic>
        <p:nvPicPr>
          <p:cNvPr id="20" name="commit history screenshot" descr="github.com/Astro-Dude/staydesk/commits/ma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5852160" cy="3950208"/>
          </a:xfrm>
          <a:prstGeom prst="rect">
            <a:avLst/>
          </a:prstGeom>
        </p:spPr>
      </p:pic>
      <p:sp>
        <p:nvSpPr>
          <p:cNvPr id="21" name="commit history caption"/>
          <p:cNvSpPr txBox="1"/>
          <p:nvPr/>
        </p:nvSpPr>
        <p:spPr>
          <a:xfrm>
            <a:off x="548640" y="54406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github.com/Astro-Dude/staydesk/commits/main</a:t>
            </a:r>
            <a:endParaRPr lang="en-US" sz="1100" dirty="0"/>
          </a:p>
        </p:txBody>
      </p:sp>
      <p:sp>
        <p:nvSpPr>
          <p:cNvPr id="22" name="commits value"/>
          <p:cNvSpPr txBox="1"/>
          <p:nvPr/>
        </p:nvSpPr>
        <p:spPr>
          <a:xfrm>
            <a:off x="6812280" y="13258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commits</a:t>
            </a:r>
            <a:endParaRPr lang="en-US" sz="4000" dirty="0"/>
          </a:p>
        </p:txBody>
      </p:sp>
      <p:sp>
        <p:nvSpPr>
          <p:cNvPr id="23" name="commits label"/>
          <p:cNvSpPr txBox="1"/>
          <p:nvPr/>
        </p:nvSpPr>
        <p:spPr>
          <a:xfrm>
            <a:off x="6812280" y="203911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each one a single, working change with a typed message</a:t>
            </a:r>
            <a:endParaRPr lang="en-US" sz="1300" dirty="0"/>
          </a:p>
        </p:txBody>
      </p:sp>
      <p:graphicFrame>
        <p:nvGraphicFramePr>
          <p:cNvPr id="24" name="commit type chart" descr=""/>
          <p:cNvGraphicFramePr/>
          <p:nvPr/>
        </p:nvGraphicFramePr>
        <p:xfrm>
          <a:off x="6812280" y="2606040"/>
          <a:ext cx="4828032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5" name="git bullets"/>
          <p:cNvSpPr txBox="1"/>
          <p:nvPr/>
        </p:nvSpPr>
        <p:spPr>
          <a:xfrm>
            <a:off x="6812280" y="4937760"/>
            <a:ext cx="48280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.gitignore keeps .env, *.tfvars, Terraform state, node_modules and .venv out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History scanned: no keys or tokens were ever committed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371600" y="38404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CI pipeline: test, scan and deploy on every push</a:t>
            </a:r>
            <a:endParaRPr lang="en-US" sz="3400" dirty="0"/>
          </a:p>
        </p:txBody>
      </p:sp>
      <p:sp>
        <p:nvSpPr>
          <p:cNvPr id="3" name="stage badge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stage icon" descr="CI pipe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47472" cy="347472"/>
          </a:xfrm>
          <a:prstGeom prst="rect">
            <a:avLst/>
          </a:prstGeom>
        </p:spPr>
      </p:pic>
      <p:sp>
        <p:nvSpPr>
          <p:cNvPr id="5" name="tracker 1"/>
          <p:cNvSpPr/>
          <p:nvPr/>
        </p:nvSpPr>
        <p:spPr>
          <a:xfrm>
            <a:off x="4709160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6" name="tracker 2"/>
          <p:cNvSpPr/>
          <p:nvPr/>
        </p:nvSpPr>
        <p:spPr>
          <a:xfrm>
            <a:off x="4928616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7" name="tracker 3"/>
          <p:cNvSpPr/>
          <p:nvPr/>
        </p:nvSpPr>
        <p:spPr>
          <a:xfrm>
            <a:off x="5120640" y="6428232"/>
            <a:ext cx="173736" cy="173736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8" name="tracker 4"/>
          <p:cNvSpPr/>
          <p:nvPr/>
        </p:nvSpPr>
        <p:spPr>
          <a:xfrm>
            <a:off x="5367528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9" name="tracker 5"/>
          <p:cNvSpPr/>
          <p:nvPr/>
        </p:nvSpPr>
        <p:spPr>
          <a:xfrm>
            <a:off x="5586984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0" name="tracker 6"/>
          <p:cNvSpPr/>
          <p:nvPr/>
        </p:nvSpPr>
        <p:spPr>
          <a:xfrm>
            <a:off x="5806440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1" name="tracker 7"/>
          <p:cNvSpPr/>
          <p:nvPr/>
        </p:nvSpPr>
        <p:spPr>
          <a:xfrm>
            <a:off x="6025896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2" name="tracker 8"/>
          <p:cNvSpPr/>
          <p:nvPr/>
        </p:nvSpPr>
        <p:spPr>
          <a:xfrm>
            <a:off x="6245352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3" name="tracker 9"/>
          <p:cNvSpPr/>
          <p:nvPr/>
        </p:nvSpPr>
        <p:spPr>
          <a:xfrm>
            <a:off x="6464808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4" name="tracker 10"/>
          <p:cNvSpPr/>
          <p:nvPr/>
        </p:nvSpPr>
        <p:spPr>
          <a:xfrm>
            <a:off x="6684264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5" name="tracker 11"/>
          <p:cNvSpPr/>
          <p:nvPr/>
        </p:nvSpPr>
        <p:spPr>
          <a:xfrm>
            <a:off x="6903720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6" name="tracker 12"/>
          <p:cNvSpPr/>
          <p:nvPr/>
        </p:nvSpPr>
        <p:spPr>
          <a:xfrm>
            <a:off x="7123176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7" name="tracker 13"/>
          <p:cNvSpPr/>
          <p:nvPr/>
        </p:nvSpPr>
        <p:spPr>
          <a:xfrm>
            <a:off x="7342632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8" name="tracker label"/>
          <p:cNvSpPr txBox="1"/>
          <p:nvPr/>
        </p:nvSpPr>
        <p:spPr>
          <a:xfrm>
            <a:off x="7653528" y="63916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Stage 3 of 13 · CI pipeline</a:t>
            </a:r>
            <a:endParaRPr lang="en-US" sz="1000" dirty="0"/>
          </a:p>
        </p:txBody>
      </p:sp>
      <p:sp>
        <p:nvSpPr>
          <p:cNvPr id="19" name="pipeline graph frame"/>
          <p:cNvSpPr/>
          <p:nvPr/>
        </p:nvSpPr>
        <p:spPr>
          <a:xfrm>
            <a:off x="502920" y="1325880"/>
            <a:ext cx="7060308" cy="310896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  <a:effectLst>
            <a:outerShdw sx="100000" sy="100000" kx="0" ky="0" algn="bl" rotWithShape="0" blurRad="127000" dist="38100" dir="5400000">
              <a:srgbClr val="0F2B2F">
                <a:alpha val="16000"/>
              </a:srgbClr>
            </a:outerShdw>
          </a:effectLst>
        </p:spPr>
      </p:sp>
      <p:pic>
        <p:nvPicPr>
          <p:cNvPr id="20" name="pipeline graph screenshot" descr="Run #5: all seven jobs green, including Deploy · Helm → EK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968868" cy="3017520"/>
          </a:xfrm>
          <a:prstGeom prst="rect">
            <a:avLst/>
          </a:prstGeom>
        </p:spPr>
      </p:pic>
      <p:sp>
        <p:nvSpPr>
          <p:cNvPr id="21" name="pipeline graph caption"/>
          <p:cNvSpPr txBox="1"/>
          <p:nvPr/>
        </p:nvSpPr>
        <p:spPr>
          <a:xfrm>
            <a:off x="548640" y="4507992"/>
            <a:ext cx="69688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Run #5: all seven jobs green, including Deploy · Helm → EKS</a:t>
            </a:r>
            <a:endParaRPr lang="en-US" sz="1100" dirty="0"/>
          </a:p>
        </p:txBody>
      </p:sp>
      <p:sp>
        <p:nvSpPr>
          <p:cNvPr id="22" name="pipeline time value"/>
          <p:cNvSpPr txBox="1"/>
          <p:nvPr/>
        </p:nvSpPr>
        <p:spPr>
          <a:xfrm>
            <a:off x="8001000" y="1325880"/>
            <a:ext cx="3639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3m 21s</a:t>
            </a:r>
            <a:endParaRPr lang="en-US" sz="4000" dirty="0"/>
          </a:p>
        </p:txBody>
      </p:sp>
      <p:sp>
        <p:nvSpPr>
          <p:cNvPr id="23" name="pipeline time label"/>
          <p:cNvSpPr txBox="1"/>
          <p:nvPr/>
        </p:nvSpPr>
        <p:spPr>
          <a:xfrm>
            <a:off x="8001000" y="2039112"/>
            <a:ext cx="3639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from git push to the new build running on EKS</a:t>
            </a:r>
            <a:endParaRPr lang="en-US" sz="1300" dirty="0"/>
          </a:p>
        </p:txBody>
      </p:sp>
      <p:sp>
        <p:nvSpPr>
          <p:cNvPr id="24" name="pipeline rules"/>
          <p:cNvSpPr txBox="1"/>
          <p:nvPr/>
        </p:nvSpPr>
        <p:spPr>
          <a:xfrm>
            <a:off x="8001000" y="2651760"/>
            <a:ext cx="36393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failing test stops everything after it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Pull requests build and scan but never push or deploy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Every action pinned to a full commit SHA</a:t>
            </a:r>
            <a:endParaRPr lang="en-US" sz="1400" dirty="0"/>
          </a:p>
        </p:txBody>
      </p:sp>
      <p:sp>
        <p:nvSpPr>
          <p:cNvPr id="25" name="step Test"/>
          <p:cNvSpPr/>
          <p:nvPr/>
        </p:nvSpPr>
        <p:spPr>
          <a:xfrm>
            <a:off x="548640" y="4846320"/>
            <a:ext cx="2587752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6" name="step Test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047488"/>
            <a:ext cx="329184" cy="329184"/>
          </a:xfrm>
          <a:prstGeom prst="rect">
            <a:avLst/>
          </a:prstGeom>
        </p:spPr>
      </p:pic>
      <p:sp>
        <p:nvSpPr>
          <p:cNvPr id="27" name="step Test title"/>
          <p:cNvSpPr txBox="1"/>
          <p:nvPr/>
        </p:nvSpPr>
        <p:spPr>
          <a:xfrm>
            <a:off x="1170432" y="5001768"/>
            <a:ext cx="1856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Test</a:t>
            </a:r>
            <a:endParaRPr lang="en-US" sz="1600" dirty="0"/>
          </a:p>
        </p:txBody>
      </p:sp>
      <p:sp>
        <p:nvSpPr>
          <p:cNvPr id="28" name="step Test text"/>
          <p:cNvSpPr txBox="1"/>
          <p:nvPr/>
        </p:nvSpPr>
        <p:spPr>
          <a:xfrm>
            <a:off x="731520" y="5468112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ruff + 49 pytest tests, coverage gate ≥ 85%</a:t>
            </a:r>
            <a:endParaRPr lang="en-US" sz="1300" dirty="0"/>
          </a:p>
        </p:txBody>
      </p:sp>
      <p:sp>
        <p:nvSpPr>
          <p:cNvPr id="29" name="step arrow 0"/>
          <p:cNvSpPr/>
          <p:nvPr/>
        </p:nvSpPr>
        <p:spPr>
          <a:xfrm>
            <a:off x="3163824" y="5486400"/>
            <a:ext cx="192024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0" name="step Build"/>
          <p:cNvSpPr/>
          <p:nvPr/>
        </p:nvSpPr>
        <p:spPr>
          <a:xfrm>
            <a:off x="3383280" y="4846320"/>
            <a:ext cx="2587752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31" name="step Build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5047488"/>
            <a:ext cx="329184" cy="329184"/>
          </a:xfrm>
          <a:prstGeom prst="rect">
            <a:avLst/>
          </a:prstGeom>
        </p:spPr>
      </p:pic>
      <p:sp>
        <p:nvSpPr>
          <p:cNvPr id="32" name="step Build title"/>
          <p:cNvSpPr txBox="1"/>
          <p:nvPr/>
        </p:nvSpPr>
        <p:spPr>
          <a:xfrm>
            <a:off x="4005072" y="5001768"/>
            <a:ext cx="1856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Build</a:t>
            </a:r>
            <a:endParaRPr lang="en-US" sz="1600" dirty="0"/>
          </a:p>
        </p:txBody>
      </p:sp>
      <p:sp>
        <p:nvSpPr>
          <p:cNvPr id="33" name="step Build text"/>
          <p:cNvSpPr txBox="1"/>
          <p:nvPr/>
        </p:nvSpPr>
        <p:spPr>
          <a:xfrm>
            <a:off x="3566160" y="5468112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both images tagged with the commit SHA</a:t>
            </a:r>
            <a:endParaRPr lang="en-US" sz="1300" dirty="0"/>
          </a:p>
        </p:txBody>
      </p:sp>
      <p:sp>
        <p:nvSpPr>
          <p:cNvPr id="34" name="step arrow 1"/>
          <p:cNvSpPr/>
          <p:nvPr/>
        </p:nvSpPr>
        <p:spPr>
          <a:xfrm>
            <a:off x="5998464" y="5486400"/>
            <a:ext cx="192024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5" name="step Scan"/>
          <p:cNvSpPr/>
          <p:nvPr/>
        </p:nvSpPr>
        <p:spPr>
          <a:xfrm>
            <a:off x="6217920" y="4846320"/>
            <a:ext cx="2587752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36" name="step Scan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5047488"/>
            <a:ext cx="329184" cy="329184"/>
          </a:xfrm>
          <a:prstGeom prst="rect">
            <a:avLst/>
          </a:prstGeom>
        </p:spPr>
      </p:pic>
      <p:sp>
        <p:nvSpPr>
          <p:cNvPr id="37" name="step Scan title"/>
          <p:cNvSpPr txBox="1"/>
          <p:nvPr/>
        </p:nvSpPr>
        <p:spPr>
          <a:xfrm>
            <a:off x="6839712" y="5001768"/>
            <a:ext cx="1856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Scan</a:t>
            </a:r>
            <a:endParaRPr lang="en-US" sz="1600" dirty="0"/>
          </a:p>
        </p:txBody>
      </p:sp>
      <p:sp>
        <p:nvSpPr>
          <p:cNvPr id="38" name="step Scan text"/>
          <p:cNvSpPr txBox="1"/>
          <p:nvPr/>
        </p:nvSpPr>
        <p:spPr>
          <a:xfrm>
            <a:off x="6400800" y="5468112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Trivy blocks fixable HIGH / CRITICAL CVEs</a:t>
            </a:r>
            <a:endParaRPr lang="en-US" sz="1300" dirty="0"/>
          </a:p>
        </p:txBody>
      </p:sp>
      <p:sp>
        <p:nvSpPr>
          <p:cNvPr id="39" name="step arrow 2"/>
          <p:cNvSpPr/>
          <p:nvPr/>
        </p:nvSpPr>
        <p:spPr>
          <a:xfrm>
            <a:off x="8833104" y="5486400"/>
            <a:ext cx="192024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40" name="step Deploy"/>
          <p:cNvSpPr/>
          <p:nvPr/>
        </p:nvSpPr>
        <p:spPr>
          <a:xfrm>
            <a:off x="9052560" y="4846320"/>
            <a:ext cx="2587752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1" name="step Deploy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5440" y="5047488"/>
            <a:ext cx="329184" cy="329184"/>
          </a:xfrm>
          <a:prstGeom prst="rect">
            <a:avLst/>
          </a:prstGeom>
        </p:spPr>
      </p:pic>
      <p:sp>
        <p:nvSpPr>
          <p:cNvPr id="42" name="step Deploy title"/>
          <p:cNvSpPr txBox="1"/>
          <p:nvPr/>
        </p:nvSpPr>
        <p:spPr>
          <a:xfrm>
            <a:off x="9674352" y="5001768"/>
            <a:ext cx="1856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Deploy</a:t>
            </a:r>
            <a:endParaRPr lang="en-US" sz="1600" dirty="0"/>
          </a:p>
        </p:txBody>
      </p:sp>
      <p:sp>
        <p:nvSpPr>
          <p:cNvPr id="43" name="step Deploy text"/>
          <p:cNvSpPr txBox="1"/>
          <p:nvPr/>
        </p:nvSpPr>
        <p:spPr>
          <a:xfrm>
            <a:off x="9235440" y="5468112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Helm → kind smoke test, Helm → EKS via OIDC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371600" y="38404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Docker image: small, non-root, built in stages</a:t>
            </a:r>
            <a:endParaRPr lang="en-US" sz="3400" dirty="0"/>
          </a:p>
        </p:txBody>
      </p:sp>
      <p:sp>
        <p:nvSpPr>
          <p:cNvPr id="3" name="stage badge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stage icon" descr="Docker im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47472" cy="347472"/>
          </a:xfrm>
          <a:prstGeom prst="rect">
            <a:avLst/>
          </a:prstGeom>
        </p:spPr>
      </p:pic>
      <p:sp>
        <p:nvSpPr>
          <p:cNvPr id="5" name="tracker 1"/>
          <p:cNvSpPr/>
          <p:nvPr/>
        </p:nvSpPr>
        <p:spPr>
          <a:xfrm>
            <a:off x="4709160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6" name="tracker 2"/>
          <p:cNvSpPr/>
          <p:nvPr/>
        </p:nvSpPr>
        <p:spPr>
          <a:xfrm>
            <a:off x="4928616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7" name="tracker 3"/>
          <p:cNvSpPr/>
          <p:nvPr/>
        </p:nvSpPr>
        <p:spPr>
          <a:xfrm>
            <a:off x="5148072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8" name="tracker 4"/>
          <p:cNvSpPr/>
          <p:nvPr/>
        </p:nvSpPr>
        <p:spPr>
          <a:xfrm>
            <a:off x="5340096" y="6428232"/>
            <a:ext cx="173736" cy="173736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9" name="tracker 5"/>
          <p:cNvSpPr/>
          <p:nvPr/>
        </p:nvSpPr>
        <p:spPr>
          <a:xfrm>
            <a:off x="5586984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0" name="tracker 6"/>
          <p:cNvSpPr/>
          <p:nvPr/>
        </p:nvSpPr>
        <p:spPr>
          <a:xfrm>
            <a:off x="5806440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1" name="tracker 7"/>
          <p:cNvSpPr/>
          <p:nvPr/>
        </p:nvSpPr>
        <p:spPr>
          <a:xfrm>
            <a:off x="6025896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2" name="tracker 8"/>
          <p:cNvSpPr/>
          <p:nvPr/>
        </p:nvSpPr>
        <p:spPr>
          <a:xfrm>
            <a:off x="6245352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3" name="tracker 9"/>
          <p:cNvSpPr/>
          <p:nvPr/>
        </p:nvSpPr>
        <p:spPr>
          <a:xfrm>
            <a:off x="6464808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4" name="tracker 10"/>
          <p:cNvSpPr/>
          <p:nvPr/>
        </p:nvSpPr>
        <p:spPr>
          <a:xfrm>
            <a:off x="6684264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5" name="tracker 11"/>
          <p:cNvSpPr/>
          <p:nvPr/>
        </p:nvSpPr>
        <p:spPr>
          <a:xfrm>
            <a:off x="6903720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6" name="tracker 12"/>
          <p:cNvSpPr/>
          <p:nvPr/>
        </p:nvSpPr>
        <p:spPr>
          <a:xfrm>
            <a:off x="7123176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7" name="tracker 13"/>
          <p:cNvSpPr/>
          <p:nvPr/>
        </p:nvSpPr>
        <p:spPr>
          <a:xfrm>
            <a:off x="7342632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8" name="tracker label"/>
          <p:cNvSpPr txBox="1"/>
          <p:nvPr/>
        </p:nvSpPr>
        <p:spPr>
          <a:xfrm>
            <a:off x="7653528" y="63916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Stage 4 of 13 · Docker image</a:t>
            </a:r>
            <a:endParaRPr lang="en-US" sz="1000" dirty="0"/>
          </a:p>
        </p:txBody>
      </p:sp>
      <p:sp>
        <p:nvSpPr>
          <p:cNvPr id="19" name="Backend image card"/>
          <p:cNvSpPr/>
          <p:nvPr/>
        </p:nvSpPr>
        <p:spPr>
          <a:xfrm>
            <a:off x="548640" y="1371600"/>
            <a:ext cx="5577840" cy="2176272"/>
          </a:xfrm>
          <a:prstGeom prst="roundRect">
            <a:avLst>
              <a:gd name="adj" fmla="val 33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0" name="Backend imag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27632"/>
            <a:ext cx="384048" cy="384048"/>
          </a:xfrm>
          <a:prstGeom prst="rect">
            <a:avLst/>
          </a:prstGeom>
        </p:spPr>
      </p:pic>
      <p:sp>
        <p:nvSpPr>
          <p:cNvPr id="21" name="Backend image title"/>
          <p:cNvSpPr txBox="1"/>
          <p:nvPr/>
        </p:nvSpPr>
        <p:spPr>
          <a:xfrm>
            <a:off x="1371600" y="16002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Backend image</a:t>
            </a:r>
            <a:endParaRPr lang="en-US" sz="1800" dirty="0"/>
          </a:p>
        </p:txBody>
      </p:sp>
      <p:sp>
        <p:nvSpPr>
          <p:cNvPr id="22" name="Backend image bullets"/>
          <p:cNvSpPr txBox="1"/>
          <p:nvPr/>
        </p:nvSpPr>
        <p:spPr>
          <a:xfrm>
            <a:off x="868680" y="2212848"/>
            <a:ext cx="4983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python:3.13-slim, two stages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Only the venv ships; pip is removed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Runs as uid 10001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Entrypoint: wait for DB → migrate → seed → serve</a:t>
            </a:r>
            <a:endParaRPr lang="en-US" sz="1400" dirty="0"/>
          </a:p>
        </p:txBody>
      </p:sp>
      <p:sp>
        <p:nvSpPr>
          <p:cNvPr id="23" name="Frontend image card"/>
          <p:cNvSpPr/>
          <p:nvPr/>
        </p:nvSpPr>
        <p:spPr>
          <a:xfrm>
            <a:off x="548640" y="3767328"/>
            <a:ext cx="5577840" cy="2176272"/>
          </a:xfrm>
          <a:prstGeom prst="roundRect">
            <a:avLst>
              <a:gd name="adj" fmla="val 33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4" name="Frontend image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023360"/>
            <a:ext cx="384048" cy="384048"/>
          </a:xfrm>
          <a:prstGeom prst="rect">
            <a:avLst/>
          </a:prstGeom>
        </p:spPr>
      </p:pic>
      <p:sp>
        <p:nvSpPr>
          <p:cNvPr id="25" name="Frontend image title"/>
          <p:cNvSpPr txBox="1"/>
          <p:nvPr/>
        </p:nvSpPr>
        <p:spPr>
          <a:xfrm>
            <a:off x="1371600" y="39959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Frontend image</a:t>
            </a:r>
            <a:endParaRPr lang="en-US" sz="1800" dirty="0"/>
          </a:p>
        </p:txBody>
      </p:sp>
      <p:sp>
        <p:nvSpPr>
          <p:cNvPr id="26" name="Frontend image bullets"/>
          <p:cNvSpPr txBox="1"/>
          <p:nvPr/>
        </p:nvSpPr>
        <p:spPr>
          <a:xfrm>
            <a:off x="868680" y="4608576"/>
            <a:ext cx="4983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node:22 build → nginx-unprivileged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26 MB runtime, no Node.js inside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Runs as uid 101 on port 8080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/api upstream injected at start</a:t>
            </a:r>
            <a:endParaRPr lang="en-US" sz="1400" dirty="0"/>
          </a:p>
        </p:txBody>
      </p:sp>
      <p:sp>
        <p:nvSpPr>
          <p:cNvPr id="27" name="compose frame"/>
          <p:cNvSpPr/>
          <p:nvPr/>
        </p:nvSpPr>
        <p:spPr>
          <a:xfrm>
            <a:off x="6400800" y="1325880"/>
            <a:ext cx="5285232" cy="3160971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  <a:effectLst>
            <a:outerShdw sx="100000" sy="100000" kx="0" ky="0" algn="bl" rotWithShape="0" blurRad="127000" dist="38100" dir="5400000">
              <a:srgbClr val="0F2B2F">
                <a:alpha val="16000"/>
              </a:srgbClr>
            </a:outerShdw>
          </a:effectLst>
        </p:spPr>
      </p:sp>
      <p:pic>
        <p:nvPicPr>
          <p:cNvPr id="28" name="compose screenshot" descr="docker compose up --build: postgres, backend and frontend, health-gate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371600"/>
            <a:ext cx="5193792" cy="3069531"/>
          </a:xfrm>
          <a:prstGeom prst="rect">
            <a:avLst/>
          </a:prstGeom>
        </p:spPr>
      </p:pic>
      <p:sp>
        <p:nvSpPr>
          <p:cNvPr id="29" name="compose caption"/>
          <p:cNvSpPr txBox="1"/>
          <p:nvPr/>
        </p:nvSpPr>
        <p:spPr>
          <a:xfrm>
            <a:off x="6446520" y="4560003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docker compose up --build: postgres, backend and frontend, health-gated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371600" y="38404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Security scan: Trivy is a hard gate</a:t>
            </a:r>
            <a:endParaRPr lang="en-US" sz="3400" dirty="0"/>
          </a:p>
        </p:txBody>
      </p:sp>
      <p:sp>
        <p:nvSpPr>
          <p:cNvPr id="3" name="stage badge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stage icon" descr="Security sc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47472" cy="347472"/>
          </a:xfrm>
          <a:prstGeom prst="rect">
            <a:avLst/>
          </a:prstGeom>
        </p:spPr>
      </p:pic>
      <p:sp>
        <p:nvSpPr>
          <p:cNvPr id="5" name="tracker 1"/>
          <p:cNvSpPr/>
          <p:nvPr/>
        </p:nvSpPr>
        <p:spPr>
          <a:xfrm>
            <a:off x="4709160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6" name="tracker 2"/>
          <p:cNvSpPr/>
          <p:nvPr/>
        </p:nvSpPr>
        <p:spPr>
          <a:xfrm>
            <a:off x="4928616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7" name="tracker 3"/>
          <p:cNvSpPr/>
          <p:nvPr/>
        </p:nvSpPr>
        <p:spPr>
          <a:xfrm>
            <a:off x="5148072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8" name="tracker 4"/>
          <p:cNvSpPr/>
          <p:nvPr/>
        </p:nvSpPr>
        <p:spPr>
          <a:xfrm>
            <a:off x="5367528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9" name="tracker 5"/>
          <p:cNvSpPr/>
          <p:nvPr/>
        </p:nvSpPr>
        <p:spPr>
          <a:xfrm>
            <a:off x="5559552" y="6428232"/>
            <a:ext cx="173736" cy="173736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0" name="tracker 6"/>
          <p:cNvSpPr/>
          <p:nvPr/>
        </p:nvSpPr>
        <p:spPr>
          <a:xfrm>
            <a:off x="5806440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1" name="tracker 7"/>
          <p:cNvSpPr/>
          <p:nvPr/>
        </p:nvSpPr>
        <p:spPr>
          <a:xfrm>
            <a:off x="6025896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2" name="tracker 8"/>
          <p:cNvSpPr/>
          <p:nvPr/>
        </p:nvSpPr>
        <p:spPr>
          <a:xfrm>
            <a:off x="6245352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3" name="tracker 9"/>
          <p:cNvSpPr/>
          <p:nvPr/>
        </p:nvSpPr>
        <p:spPr>
          <a:xfrm>
            <a:off x="6464808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4" name="tracker 10"/>
          <p:cNvSpPr/>
          <p:nvPr/>
        </p:nvSpPr>
        <p:spPr>
          <a:xfrm>
            <a:off x="6684264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5" name="tracker 11"/>
          <p:cNvSpPr/>
          <p:nvPr/>
        </p:nvSpPr>
        <p:spPr>
          <a:xfrm>
            <a:off x="6903720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6" name="tracker 12"/>
          <p:cNvSpPr/>
          <p:nvPr/>
        </p:nvSpPr>
        <p:spPr>
          <a:xfrm>
            <a:off x="7123176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7" name="tracker 13"/>
          <p:cNvSpPr/>
          <p:nvPr/>
        </p:nvSpPr>
        <p:spPr>
          <a:xfrm>
            <a:off x="7342632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8" name="tracker label"/>
          <p:cNvSpPr txBox="1"/>
          <p:nvPr/>
        </p:nvSpPr>
        <p:spPr>
          <a:xfrm>
            <a:off x="7653528" y="63916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Stage 5 of 13 · Security scan</a:t>
            </a:r>
            <a:endParaRPr lang="en-US" sz="1000" dirty="0"/>
          </a:p>
        </p:txBody>
      </p:sp>
      <p:sp>
        <p:nvSpPr>
          <p:cNvPr id="19" name="cve count value"/>
          <p:cNvSpPr txBox="1"/>
          <p:nvPr/>
        </p:nvSpPr>
        <p:spPr>
          <a:xfrm>
            <a:off x="548640" y="137160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7200" dirty="0"/>
          </a:p>
        </p:txBody>
      </p:sp>
      <p:sp>
        <p:nvSpPr>
          <p:cNvPr id="20" name="cve count label"/>
          <p:cNvSpPr txBox="1"/>
          <p:nvPr/>
        </p:nvSpPr>
        <p:spPr>
          <a:xfrm>
            <a:off x="548640" y="240487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fixable HIGH or CRITICAL CVEs in either image</a:t>
            </a:r>
            <a:endParaRPr lang="en-US" sz="1300" dirty="0"/>
          </a:p>
        </p:txBody>
      </p:sp>
      <p:sp>
        <p:nvSpPr>
          <p:cNvPr id="21" name="security bullets"/>
          <p:cNvSpPr txBox="1"/>
          <p:nvPr/>
        </p:nvSpPr>
        <p:spPr>
          <a:xfrm>
            <a:off x="548640" y="297180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Scans OS packages and Python/npm libraries before the image is pushed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severity HIGH,CRITICAL · ignore-unfixed · exit-code 1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Separate report-only scan of Terraform, Helm and Dockerfiles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Clean today ≠ secure forever: new CVEs appear daily, so every build is rescanned</a:t>
            </a:r>
            <a:endParaRPr lang="en-US" sz="1500" dirty="0"/>
          </a:p>
        </p:txBody>
      </p:sp>
      <p:sp>
        <p:nvSpPr>
          <p:cNvPr id="22" name="trivy backend frame"/>
          <p:cNvSpPr/>
          <p:nvPr/>
        </p:nvSpPr>
        <p:spPr>
          <a:xfrm>
            <a:off x="5744993" y="1325880"/>
            <a:ext cx="5682446" cy="292608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  <a:effectLst>
            <a:outerShdw sx="100000" sy="100000" kx="0" ky="0" algn="bl" rotWithShape="0" blurRad="127000" dist="38100" dir="5400000">
              <a:srgbClr val="0F2B2F">
                <a:alpha val="16000"/>
              </a:srgbClr>
            </a:outerShdw>
          </a:effectLst>
        </p:spPr>
      </p:sp>
      <p:pic>
        <p:nvPicPr>
          <p:cNvPr id="23" name="trivy backend screenshot" descr="triv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0713" y="1371600"/>
            <a:ext cx="5591006" cy="2834640"/>
          </a:xfrm>
          <a:prstGeom prst="rect">
            <a:avLst/>
          </a:prstGeom>
        </p:spPr>
      </p:pic>
      <p:sp>
        <p:nvSpPr>
          <p:cNvPr id="24" name="trivy frontend frame"/>
          <p:cNvSpPr/>
          <p:nvPr/>
        </p:nvSpPr>
        <p:spPr>
          <a:xfrm>
            <a:off x="5706612" y="4389120"/>
            <a:ext cx="5759209" cy="146304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  <a:effectLst>
            <a:outerShdw sx="100000" sy="100000" kx="0" ky="0" algn="bl" rotWithShape="0" blurRad="127000" dist="38100" dir="5400000">
              <a:srgbClr val="0F2B2F">
                <a:alpha val="16000"/>
              </a:srgbClr>
            </a:outerShdw>
          </a:effectLst>
        </p:spPr>
      </p:sp>
      <p:pic>
        <p:nvPicPr>
          <p:cNvPr id="25" name="trivy frontend screenshot" descr="Trivy output from pipeline run #2: backend (Debian 13) and frontend (Alpine 3.24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2332" y="4434840"/>
            <a:ext cx="5667769" cy="1371600"/>
          </a:xfrm>
          <a:prstGeom prst="rect">
            <a:avLst/>
          </a:prstGeom>
        </p:spPr>
      </p:pic>
      <p:sp>
        <p:nvSpPr>
          <p:cNvPr id="26" name="trivy frontend caption"/>
          <p:cNvSpPr txBox="1"/>
          <p:nvPr/>
        </p:nvSpPr>
        <p:spPr>
          <a:xfrm>
            <a:off x="5752332" y="5925312"/>
            <a:ext cx="56677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Trivy output from pipeline run #2: backend (Debian 13) and frontend (Alpine 3.24)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371600" y="38404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Registry: one image per commit in GHCR</a:t>
            </a:r>
            <a:endParaRPr lang="en-US" sz="3400" dirty="0"/>
          </a:p>
        </p:txBody>
      </p:sp>
      <p:sp>
        <p:nvSpPr>
          <p:cNvPr id="3" name="stage badge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stage icon" descr="Regist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47472" cy="347472"/>
          </a:xfrm>
          <a:prstGeom prst="rect">
            <a:avLst/>
          </a:prstGeom>
        </p:spPr>
      </p:pic>
      <p:sp>
        <p:nvSpPr>
          <p:cNvPr id="5" name="tracker 1"/>
          <p:cNvSpPr/>
          <p:nvPr/>
        </p:nvSpPr>
        <p:spPr>
          <a:xfrm>
            <a:off x="4709160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6" name="tracker 2"/>
          <p:cNvSpPr/>
          <p:nvPr/>
        </p:nvSpPr>
        <p:spPr>
          <a:xfrm>
            <a:off x="4928616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7" name="tracker 3"/>
          <p:cNvSpPr/>
          <p:nvPr/>
        </p:nvSpPr>
        <p:spPr>
          <a:xfrm>
            <a:off x="5148072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8" name="tracker 4"/>
          <p:cNvSpPr/>
          <p:nvPr/>
        </p:nvSpPr>
        <p:spPr>
          <a:xfrm>
            <a:off x="5367528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9" name="tracker 5"/>
          <p:cNvSpPr/>
          <p:nvPr/>
        </p:nvSpPr>
        <p:spPr>
          <a:xfrm>
            <a:off x="5586984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0" name="tracker 6"/>
          <p:cNvSpPr/>
          <p:nvPr/>
        </p:nvSpPr>
        <p:spPr>
          <a:xfrm>
            <a:off x="5779008" y="6428232"/>
            <a:ext cx="173736" cy="173736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1" name="tracker 7"/>
          <p:cNvSpPr/>
          <p:nvPr/>
        </p:nvSpPr>
        <p:spPr>
          <a:xfrm>
            <a:off x="6025896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2" name="tracker 8"/>
          <p:cNvSpPr/>
          <p:nvPr/>
        </p:nvSpPr>
        <p:spPr>
          <a:xfrm>
            <a:off x="6245352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3" name="tracker 9"/>
          <p:cNvSpPr/>
          <p:nvPr/>
        </p:nvSpPr>
        <p:spPr>
          <a:xfrm>
            <a:off x="6464808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4" name="tracker 10"/>
          <p:cNvSpPr/>
          <p:nvPr/>
        </p:nvSpPr>
        <p:spPr>
          <a:xfrm>
            <a:off x="6684264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5" name="tracker 11"/>
          <p:cNvSpPr/>
          <p:nvPr/>
        </p:nvSpPr>
        <p:spPr>
          <a:xfrm>
            <a:off x="6903720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6" name="tracker 12"/>
          <p:cNvSpPr/>
          <p:nvPr/>
        </p:nvSpPr>
        <p:spPr>
          <a:xfrm>
            <a:off x="7123176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7" name="tracker 13"/>
          <p:cNvSpPr/>
          <p:nvPr/>
        </p:nvSpPr>
        <p:spPr>
          <a:xfrm>
            <a:off x="7342632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8" name="tracker label"/>
          <p:cNvSpPr txBox="1"/>
          <p:nvPr/>
        </p:nvSpPr>
        <p:spPr>
          <a:xfrm>
            <a:off x="7653528" y="63916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Stage 6 of 13 · Registry</a:t>
            </a:r>
            <a:endParaRPr lang="en-US" sz="1000" dirty="0"/>
          </a:p>
        </p:txBody>
      </p:sp>
      <p:sp>
        <p:nvSpPr>
          <p:cNvPr id="19" name="ghcr frame"/>
          <p:cNvSpPr/>
          <p:nvPr/>
        </p:nvSpPr>
        <p:spPr>
          <a:xfrm>
            <a:off x="502920" y="1325880"/>
            <a:ext cx="6583680" cy="3499866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  <a:effectLst>
            <a:outerShdw sx="100000" sy="100000" kx="0" ky="0" algn="bl" rotWithShape="0" blurRad="127000" dist="38100" dir="5400000">
              <a:srgbClr val="0F2B2F">
                <a:alpha val="16000"/>
              </a:srgbClr>
            </a:outerShdw>
          </a:effectLst>
        </p:spPr>
      </p:sp>
      <p:pic>
        <p:nvPicPr>
          <p:cNvPr id="20" name="ghcr screenshot" descr="ghcr.io/astro-dude/staydesk-backend: tags are full commit SHA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492240" cy="3408426"/>
          </a:xfrm>
          <a:prstGeom prst="rect">
            <a:avLst/>
          </a:prstGeom>
        </p:spPr>
      </p:pic>
      <p:sp>
        <p:nvSpPr>
          <p:cNvPr id="21" name="ghcr caption"/>
          <p:cNvSpPr txBox="1"/>
          <p:nvPr/>
        </p:nvSpPr>
        <p:spPr>
          <a:xfrm>
            <a:off x="548640" y="489889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ghcr.io/astro-dude/staydesk-backend: tags are full commit SHAs</a:t>
            </a:r>
            <a:endParaRPr lang="en-US" sz="1100" dirty="0"/>
          </a:p>
        </p:txBody>
      </p:sp>
      <p:sp>
        <p:nvSpPr>
          <p:cNvPr id="22" name="registry tagline"/>
          <p:cNvSpPr txBox="1"/>
          <p:nvPr/>
        </p:nvSpPr>
        <p:spPr>
          <a:xfrm>
            <a:off x="7406640" y="1371600"/>
            <a:ext cx="4233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 A → image A</a:t>
            </a:r>
            <a:endParaRPr lang="en-US" sz="2400" dirty="0"/>
          </a:p>
        </p:txBody>
      </p:sp>
      <p:sp>
        <p:nvSpPr>
          <p:cNvPr id="23" name="commit chip"/>
          <p:cNvSpPr/>
          <p:nvPr/>
        </p:nvSpPr>
        <p:spPr>
          <a:xfrm>
            <a:off x="7406640" y="2103120"/>
            <a:ext cx="4233672" cy="54864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git commit  fbdd61b</a:t>
            </a:r>
            <a:endParaRPr lang="en-US" sz="1500" dirty="0"/>
          </a:p>
        </p:txBody>
      </p:sp>
      <p:sp>
        <p:nvSpPr>
          <p:cNvPr id="24" name="registry arrow"/>
          <p:cNvSpPr/>
          <p:nvPr/>
        </p:nvSpPr>
        <p:spPr>
          <a:xfrm>
            <a:off x="9509760" y="2697480"/>
            <a:ext cx="0" cy="384048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5" name="image chip"/>
          <p:cNvSpPr/>
          <p:nvPr/>
        </p:nvSpPr>
        <p:spPr>
          <a:xfrm>
            <a:off x="7406640" y="3127248"/>
            <a:ext cx="4233672" cy="82296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staydesk-backend:fbdd61b1…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staydesk-frontend:fbdd61b1…</a:t>
            </a:r>
            <a:endParaRPr lang="en-US" sz="1400" dirty="0"/>
          </a:p>
        </p:txBody>
      </p:sp>
      <p:sp>
        <p:nvSpPr>
          <p:cNvPr id="26" name="registry bullets"/>
          <p:cNvSpPr txBox="1"/>
          <p:nvPr/>
        </p:nvSpPr>
        <p:spPr>
          <a:xfrm>
            <a:off x="7406640" y="4206240"/>
            <a:ext cx="42336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“latest” tag: every running pod traces back to one commit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Pushed only after tests and the Trivy scan pass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Public packages, so EKS pulls without a secret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371600" y="38404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Terraform: the whole AWS platform as code</a:t>
            </a:r>
            <a:endParaRPr lang="en-US" sz="3400" dirty="0"/>
          </a:p>
        </p:txBody>
      </p:sp>
      <p:sp>
        <p:nvSpPr>
          <p:cNvPr id="3" name="stage badge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stage icon" descr="Terrafor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47472" cy="347472"/>
          </a:xfrm>
          <a:prstGeom prst="rect">
            <a:avLst/>
          </a:prstGeom>
        </p:spPr>
      </p:pic>
      <p:sp>
        <p:nvSpPr>
          <p:cNvPr id="5" name="tracker 1"/>
          <p:cNvSpPr/>
          <p:nvPr/>
        </p:nvSpPr>
        <p:spPr>
          <a:xfrm>
            <a:off x="4709160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6" name="tracker 2"/>
          <p:cNvSpPr/>
          <p:nvPr/>
        </p:nvSpPr>
        <p:spPr>
          <a:xfrm>
            <a:off x="4928616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7" name="tracker 3"/>
          <p:cNvSpPr/>
          <p:nvPr/>
        </p:nvSpPr>
        <p:spPr>
          <a:xfrm>
            <a:off x="5148072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8" name="tracker 4"/>
          <p:cNvSpPr/>
          <p:nvPr/>
        </p:nvSpPr>
        <p:spPr>
          <a:xfrm>
            <a:off x="5367528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9" name="tracker 5"/>
          <p:cNvSpPr/>
          <p:nvPr/>
        </p:nvSpPr>
        <p:spPr>
          <a:xfrm>
            <a:off x="5586984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0" name="tracker 6"/>
          <p:cNvSpPr/>
          <p:nvPr/>
        </p:nvSpPr>
        <p:spPr>
          <a:xfrm>
            <a:off x="5806440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1" name="tracker 7"/>
          <p:cNvSpPr/>
          <p:nvPr/>
        </p:nvSpPr>
        <p:spPr>
          <a:xfrm>
            <a:off x="5998464" y="6428232"/>
            <a:ext cx="173736" cy="173736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2" name="tracker 8"/>
          <p:cNvSpPr/>
          <p:nvPr/>
        </p:nvSpPr>
        <p:spPr>
          <a:xfrm>
            <a:off x="6245352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3" name="tracker 9"/>
          <p:cNvSpPr/>
          <p:nvPr/>
        </p:nvSpPr>
        <p:spPr>
          <a:xfrm>
            <a:off x="6464808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4" name="tracker 10"/>
          <p:cNvSpPr/>
          <p:nvPr/>
        </p:nvSpPr>
        <p:spPr>
          <a:xfrm>
            <a:off x="6684264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5" name="tracker 11"/>
          <p:cNvSpPr/>
          <p:nvPr/>
        </p:nvSpPr>
        <p:spPr>
          <a:xfrm>
            <a:off x="6903720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6" name="tracker 12"/>
          <p:cNvSpPr/>
          <p:nvPr/>
        </p:nvSpPr>
        <p:spPr>
          <a:xfrm>
            <a:off x="7123176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7" name="tracker 13"/>
          <p:cNvSpPr/>
          <p:nvPr/>
        </p:nvSpPr>
        <p:spPr>
          <a:xfrm>
            <a:off x="7342632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8" name="tracker label"/>
          <p:cNvSpPr txBox="1"/>
          <p:nvPr/>
        </p:nvSpPr>
        <p:spPr>
          <a:xfrm>
            <a:off x="7653528" y="63916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Stage 7 of 13 · Terraform</a:t>
            </a:r>
            <a:endParaRPr lang="en-US" sz="1000" dirty="0"/>
          </a:p>
        </p:txBody>
      </p:sp>
      <p:sp>
        <p:nvSpPr>
          <p:cNvPr id="19" name="aws boundary"/>
          <p:cNvSpPr/>
          <p:nvPr/>
        </p:nvSpPr>
        <p:spPr>
          <a:xfrm>
            <a:off x="548640" y="1371600"/>
            <a:ext cx="5852160" cy="4800600"/>
          </a:xfrm>
          <a:prstGeom prst="roundRect">
            <a:avLst>
              <a:gd name="adj" fmla="val 1143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dash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0" name="aws label"/>
          <p:cNvSpPr txBox="1"/>
          <p:nvPr/>
        </p:nvSpPr>
        <p:spPr>
          <a:xfrm>
            <a:off x="731520" y="14447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AWS · ap-south-1 (Mumbai)</a:t>
            </a:r>
            <a:endParaRPr lang="en-US" sz="1200" dirty="0"/>
          </a:p>
        </p:txBody>
      </p:sp>
      <p:sp>
        <p:nvSpPr>
          <p:cNvPr id="21" name="control plane"/>
          <p:cNvSpPr/>
          <p:nvPr/>
        </p:nvSpPr>
        <p:spPr>
          <a:xfrm>
            <a:off x="777240" y="1810512"/>
            <a:ext cx="5394960" cy="566928"/>
          </a:xfrm>
          <a:prstGeom prst="roundRect">
            <a:avLst>
              <a:gd name="adj" fmla="val 9677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EKS control plane · Kubernetes 1.35 · managed by AWS</a:t>
            </a:r>
            <a:endParaRPr lang="en-US" sz="1300" dirty="0"/>
          </a:p>
        </p:txBody>
      </p:sp>
      <p:sp>
        <p:nvSpPr>
          <p:cNvPr id="22" name="vpc box"/>
          <p:cNvSpPr/>
          <p:nvPr/>
        </p:nvSpPr>
        <p:spPr>
          <a:xfrm>
            <a:off x="777240" y="2560320"/>
            <a:ext cx="5394960" cy="3429000"/>
          </a:xfrm>
          <a:prstGeom prst="roundRect">
            <a:avLst>
              <a:gd name="adj" fmla="val 1600"/>
            </a:avLst>
          </a:prstGeom>
          <a:solidFill>
            <a:schemeClr val="bg2"/>
          </a:solidFill>
          <a:ln w="12700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3" name="vpc label"/>
          <p:cNvSpPr txBox="1"/>
          <p:nvPr/>
        </p:nvSpPr>
        <p:spPr>
          <a:xfrm>
            <a:off x="960120" y="26243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VPC 10.20.0.0/16</a:t>
            </a:r>
            <a:endParaRPr lang="en-US" sz="1200" dirty="0"/>
          </a:p>
        </p:txBody>
      </p:sp>
      <p:sp>
        <p:nvSpPr>
          <p:cNvPr id="24" name="ap-south-1a box"/>
          <p:cNvSpPr/>
          <p:nvPr/>
        </p:nvSpPr>
        <p:spPr>
          <a:xfrm>
            <a:off x="960120" y="2971800"/>
            <a:ext cx="2423160" cy="288036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dash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5" name="ap-south-1a label"/>
          <p:cNvSpPr txBox="1"/>
          <p:nvPr/>
        </p:nvSpPr>
        <p:spPr>
          <a:xfrm>
            <a:off x="1069848" y="3017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ap-south-1a</a:t>
            </a:r>
            <a:endParaRPr lang="en-US" sz="1100" dirty="0"/>
          </a:p>
        </p:txBody>
      </p:sp>
      <p:sp>
        <p:nvSpPr>
          <p:cNvPr id="26" name="ap-south-1a public"/>
          <p:cNvSpPr/>
          <p:nvPr/>
        </p:nvSpPr>
        <p:spPr>
          <a:xfrm>
            <a:off x="1097280" y="3337560"/>
            <a:ext cx="2148840" cy="96012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Public subnet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10.20.101.0/24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NAT gateway</a:t>
            </a:r>
            <a:endParaRPr lang="en-US" sz="1100" dirty="0"/>
          </a:p>
        </p:txBody>
      </p:sp>
      <p:sp>
        <p:nvSpPr>
          <p:cNvPr id="27" name="ap-south-1a private"/>
          <p:cNvSpPr/>
          <p:nvPr/>
        </p:nvSpPr>
        <p:spPr>
          <a:xfrm>
            <a:off x="1097280" y="4434840"/>
            <a:ext cx="2148840" cy="128016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Private subnet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10.20.1.0/24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c7i-flex.large worker</a:t>
            </a:r>
            <a:endParaRPr lang="en-US" sz="1100" dirty="0"/>
          </a:p>
        </p:txBody>
      </p:sp>
      <p:sp>
        <p:nvSpPr>
          <p:cNvPr id="28" name="ap-south-1b box"/>
          <p:cNvSpPr/>
          <p:nvPr/>
        </p:nvSpPr>
        <p:spPr>
          <a:xfrm>
            <a:off x="3566160" y="2971800"/>
            <a:ext cx="2423160" cy="288036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dash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9" name="ap-south-1b label"/>
          <p:cNvSpPr txBox="1"/>
          <p:nvPr/>
        </p:nvSpPr>
        <p:spPr>
          <a:xfrm>
            <a:off x="3675888" y="3017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ap-south-1b</a:t>
            </a:r>
            <a:endParaRPr lang="en-US" sz="1100" dirty="0"/>
          </a:p>
        </p:txBody>
      </p:sp>
      <p:sp>
        <p:nvSpPr>
          <p:cNvPr id="30" name="ap-south-1b public"/>
          <p:cNvSpPr/>
          <p:nvPr/>
        </p:nvSpPr>
        <p:spPr>
          <a:xfrm>
            <a:off x="3703320" y="3337560"/>
            <a:ext cx="2148840" cy="96012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Public subnet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10.20.102.0/24</a:t>
            </a:r>
            <a:endParaRPr lang="en-US" sz="1100" dirty="0"/>
          </a:p>
        </p:txBody>
      </p:sp>
      <p:sp>
        <p:nvSpPr>
          <p:cNvPr id="31" name="ap-south-1b private"/>
          <p:cNvSpPr/>
          <p:nvPr/>
        </p:nvSpPr>
        <p:spPr>
          <a:xfrm>
            <a:off x="3703320" y="4434840"/>
            <a:ext cx="2148840" cy="128016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Private subnet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10.20.2.0/24</a:t>
            </a:r>
            <a:endParaRPr lang="en-US" sz="1100" dirty="0"/>
          </a:p>
        </p:txBody>
      </p:sp>
      <p:sp>
        <p:nvSpPr>
          <p:cNvPr id="32" name="tf resources value"/>
          <p:cNvSpPr txBox="1"/>
          <p:nvPr/>
        </p:nvSpPr>
        <p:spPr>
          <a:xfrm>
            <a:off x="6766560" y="12801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en-US" sz="4000" dirty="0"/>
          </a:p>
        </p:txBody>
      </p:sp>
      <p:sp>
        <p:nvSpPr>
          <p:cNvPr id="33" name="tf resources label"/>
          <p:cNvSpPr txBox="1"/>
          <p:nvPr/>
        </p:nvSpPr>
        <p:spPr>
          <a:xfrm>
            <a:off x="6766560" y="19933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resources: plan → apply → destroy</a:t>
            </a:r>
            <a:endParaRPr lang="en-US" sz="1300" dirty="0"/>
          </a:p>
        </p:txBody>
      </p:sp>
      <p:sp>
        <p:nvSpPr>
          <p:cNvPr id="34" name="tf version value"/>
          <p:cNvSpPr txBox="1"/>
          <p:nvPr/>
        </p:nvSpPr>
        <p:spPr>
          <a:xfrm>
            <a:off x="8412480" y="128016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1.35</a:t>
            </a:r>
            <a:endParaRPr lang="en-US" sz="4000" dirty="0"/>
          </a:p>
        </p:txBody>
      </p:sp>
      <p:sp>
        <p:nvSpPr>
          <p:cNvPr id="35" name="tf version label"/>
          <p:cNvSpPr txBox="1"/>
          <p:nvPr/>
        </p:nvSpPr>
        <p:spPr>
          <a:xfrm>
            <a:off x="8412480" y="199339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EKS version, standard support only</a:t>
            </a:r>
            <a:endParaRPr lang="en-US" sz="1300" dirty="0"/>
          </a:p>
        </p:txBody>
      </p:sp>
      <p:sp>
        <p:nvSpPr>
          <p:cNvPr id="36" name="tf oidc value"/>
          <p:cNvSpPr txBox="1"/>
          <p:nvPr/>
        </p:nvSpPr>
        <p:spPr>
          <a:xfrm>
            <a:off x="10104120" y="1280160"/>
            <a:ext cx="1536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OIDC</a:t>
            </a:r>
            <a:endParaRPr lang="en-US" sz="3200" dirty="0"/>
          </a:p>
        </p:txBody>
      </p:sp>
      <p:sp>
        <p:nvSpPr>
          <p:cNvPr id="37" name="tf oidc label"/>
          <p:cNvSpPr txBox="1"/>
          <p:nvPr/>
        </p:nvSpPr>
        <p:spPr>
          <a:xfrm>
            <a:off x="10104120" y="1993392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GitHub deploy role, no AWS keys in CI</a:t>
            </a:r>
            <a:endParaRPr lang="en-US" sz="1300" dirty="0"/>
          </a:p>
        </p:txBody>
      </p:sp>
      <p:sp>
        <p:nvSpPr>
          <p:cNvPr id="38" name="terraform plan frame"/>
          <p:cNvSpPr/>
          <p:nvPr/>
        </p:nvSpPr>
        <p:spPr>
          <a:xfrm>
            <a:off x="6720840" y="2697480"/>
            <a:ext cx="4965192" cy="2559995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  <a:effectLst>
            <a:outerShdw sx="100000" sy="100000" kx="0" ky="0" algn="bl" rotWithShape="0" blurRad="127000" dist="38100" dir="5400000">
              <a:srgbClr val="0F2B2F">
                <a:alpha val="16000"/>
              </a:srgbClr>
            </a:outerShdw>
          </a:effectLst>
        </p:spPr>
      </p:sp>
      <p:pic>
        <p:nvPicPr>
          <p:cNvPr id="39" name="terraform plan screenshot" descr="terraform plan: 61 to add, 0 to change, 0 to destro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743200"/>
            <a:ext cx="4873752" cy="2468555"/>
          </a:xfrm>
          <a:prstGeom prst="rect">
            <a:avLst/>
          </a:prstGeom>
        </p:spPr>
      </p:pic>
      <p:sp>
        <p:nvSpPr>
          <p:cNvPr id="40" name="terraform plan caption"/>
          <p:cNvSpPr txBox="1"/>
          <p:nvPr/>
        </p:nvSpPr>
        <p:spPr>
          <a:xfrm>
            <a:off x="6766560" y="5330627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terraform plan: 61 to add, 0 to change, 0 to destroy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371600" y="38404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Terraform's output, as seen in the AWS Console</a:t>
            </a:r>
            <a:endParaRPr lang="en-US" sz="3400" dirty="0"/>
          </a:p>
        </p:txBody>
      </p:sp>
      <p:sp>
        <p:nvSpPr>
          <p:cNvPr id="3" name="stage badge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stage icon" descr="Terrafor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47472" cy="347472"/>
          </a:xfrm>
          <a:prstGeom prst="rect">
            <a:avLst/>
          </a:prstGeom>
        </p:spPr>
      </p:pic>
      <p:sp>
        <p:nvSpPr>
          <p:cNvPr id="5" name="tracker 1"/>
          <p:cNvSpPr/>
          <p:nvPr/>
        </p:nvSpPr>
        <p:spPr>
          <a:xfrm>
            <a:off x="4709160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6" name="tracker 2"/>
          <p:cNvSpPr/>
          <p:nvPr/>
        </p:nvSpPr>
        <p:spPr>
          <a:xfrm>
            <a:off x="4928616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7" name="tracker 3"/>
          <p:cNvSpPr/>
          <p:nvPr/>
        </p:nvSpPr>
        <p:spPr>
          <a:xfrm>
            <a:off x="5148072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8" name="tracker 4"/>
          <p:cNvSpPr/>
          <p:nvPr/>
        </p:nvSpPr>
        <p:spPr>
          <a:xfrm>
            <a:off x="5367528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9" name="tracker 5"/>
          <p:cNvSpPr/>
          <p:nvPr/>
        </p:nvSpPr>
        <p:spPr>
          <a:xfrm>
            <a:off x="5586984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0" name="tracker 6"/>
          <p:cNvSpPr/>
          <p:nvPr/>
        </p:nvSpPr>
        <p:spPr>
          <a:xfrm>
            <a:off x="5806440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1" name="tracker 7"/>
          <p:cNvSpPr/>
          <p:nvPr/>
        </p:nvSpPr>
        <p:spPr>
          <a:xfrm>
            <a:off x="5998464" y="6428232"/>
            <a:ext cx="173736" cy="173736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2" name="tracker 8"/>
          <p:cNvSpPr/>
          <p:nvPr/>
        </p:nvSpPr>
        <p:spPr>
          <a:xfrm>
            <a:off x="6245352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3" name="tracker 9"/>
          <p:cNvSpPr/>
          <p:nvPr/>
        </p:nvSpPr>
        <p:spPr>
          <a:xfrm>
            <a:off x="6464808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4" name="tracker 10"/>
          <p:cNvSpPr/>
          <p:nvPr/>
        </p:nvSpPr>
        <p:spPr>
          <a:xfrm>
            <a:off x="6684264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5" name="tracker 11"/>
          <p:cNvSpPr/>
          <p:nvPr/>
        </p:nvSpPr>
        <p:spPr>
          <a:xfrm>
            <a:off x="6903720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6" name="tracker 12"/>
          <p:cNvSpPr/>
          <p:nvPr/>
        </p:nvSpPr>
        <p:spPr>
          <a:xfrm>
            <a:off x="7123176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7" name="tracker 13"/>
          <p:cNvSpPr/>
          <p:nvPr/>
        </p:nvSpPr>
        <p:spPr>
          <a:xfrm>
            <a:off x="7342632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8" name="tracker label"/>
          <p:cNvSpPr txBox="1"/>
          <p:nvPr/>
        </p:nvSpPr>
        <p:spPr>
          <a:xfrm>
            <a:off x="7653528" y="63916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Stage 7 of 13 · Terraform</a:t>
            </a:r>
            <a:endParaRPr lang="en-US" sz="1000" dirty="0"/>
          </a:p>
        </p:txBody>
      </p:sp>
      <p:sp>
        <p:nvSpPr>
          <p:cNvPr id="19" name="console eks frame"/>
          <p:cNvSpPr/>
          <p:nvPr/>
        </p:nvSpPr>
        <p:spPr>
          <a:xfrm>
            <a:off x="502920" y="1325880"/>
            <a:ext cx="5458570" cy="25603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  <a:effectLst>
            <a:outerShdw sx="100000" sy="100000" kx="0" ky="0" algn="bl" rotWithShape="0" blurRad="127000" dist="38100" dir="5400000">
              <a:srgbClr val="0F2B2F">
                <a:alpha val="16000"/>
              </a:srgbClr>
            </a:outerShdw>
          </a:effectLst>
        </p:spPr>
      </p:sp>
      <p:pic>
        <p:nvPicPr>
          <p:cNvPr id="20" name="console eks screenshot" descr="EKS cluster staydesk-eks: Active, 1.35, 0 health issu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5367130" cy="2468880"/>
          </a:xfrm>
          <a:prstGeom prst="rect">
            <a:avLst/>
          </a:prstGeom>
        </p:spPr>
      </p:pic>
      <p:sp>
        <p:nvSpPr>
          <p:cNvPr id="21" name="console eks caption"/>
          <p:cNvSpPr txBox="1"/>
          <p:nvPr/>
        </p:nvSpPr>
        <p:spPr>
          <a:xfrm>
            <a:off x="548640" y="3959352"/>
            <a:ext cx="53671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EKS cluster staydesk-eks: Active, 1.35, 0 health issues</a:t>
            </a:r>
            <a:endParaRPr lang="en-US" sz="1100" dirty="0"/>
          </a:p>
        </p:txBody>
      </p:sp>
      <p:sp>
        <p:nvSpPr>
          <p:cNvPr id="22" name="console vpc frame"/>
          <p:cNvSpPr/>
          <p:nvPr/>
        </p:nvSpPr>
        <p:spPr>
          <a:xfrm>
            <a:off x="502920" y="4370832"/>
            <a:ext cx="5386407" cy="128016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  <a:effectLst>
            <a:outerShdw sx="100000" sy="100000" kx="0" ky="0" algn="bl" rotWithShape="0" blurRad="127000" dist="38100" dir="5400000">
              <a:srgbClr val="0F2B2F">
                <a:alpha val="16000"/>
              </a:srgbClr>
            </a:outerShdw>
          </a:effectLst>
        </p:spPr>
      </p:sp>
      <p:pic>
        <p:nvPicPr>
          <p:cNvPr id="23" name="console vpc screenshot" descr="VPC staydesk-vpc · 10.20.0.0/16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416552"/>
            <a:ext cx="5294967" cy="1188720"/>
          </a:xfrm>
          <a:prstGeom prst="rect">
            <a:avLst/>
          </a:prstGeom>
        </p:spPr>
      </p:pic>
      <p:sp>
        <p:nvSpPr>
          <p:cNvPr id="24" name="console vpc caption"/>
          <p:cNvSpPr txBox="1"/>
          <p:nvPr/>
        </p:nvSpPr>
        <p:spPr>
          <a:xfrm>
            <a:off x="548640" y="5724144"/>
            <a:ext cx="52949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VPC staydesk-vpc · 10.20.0.0/16</a:t>
            </a:r>
            <a:endParaRPr lang="en-US" sz="1100" dirty="0"/>
          </a:p>
        </p:txBody>
      </p:sp>
      <p:sp>
        <p:nvSpPr>
          <p:cNvPr id="25" name="console subnets frame"/>
          <p:cNvSpPr/>
          <p:nvPr/>
        </p:nvSpPr>
        <p:spPr>
          <a:xfrm>
            <a:off x="6766560" y="1325880"/>
            <a:ext cx="4919472" cy="128155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  <a:effectLst>
            <a:outerShdw sx="100000" sy="100000" kx="0" ky="0" algn="bl" rotWithShape="0" blurRad="127000" dist="38100" dir="5400000">
              <a:srgbClr val="0F2B2F">
                <a:alpha val="16000"/>
              </a:srgbClr>
            </a:outerShdw>
          </a:effectLst>
        </p:spPr>
      </p:sp>
      <p:pic>
        <p:nvPicPr>
          <p:cNvPr id="26" name="console subnets screenshot" descr="Four subnets: two public, two privat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1371600"/>
            <a:ext cx="4828032" cy="1190110"/>
          </a:xfrm>
          <a:prstGeom prst="rect">
            <a:avLst/>
          </a:prstGeom>
        </p:spPr>
      </p:pic>
      <p:sp>
        <p:nvSpPr>
          <p:cNvPr id="27" name="console subnets caption"/>
          <p:cNvSpPr txBox="1"/>
          <p:nvPr/>
        </p:nvSpPr>
        <p:spPr>
          <a:xfrm>
            <a:off x="6812280" y="2680582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Four subnets: two public, two private</a:t>
            </a:r>
            <a:endParaRPr lang="en-US" sz="1100" dirty="0"/>
          </a:p>
        </p:txBody>
      </p:sp>
      <p:sp>
        <p:nvSpPr>
          <p:cNvPr id="28" name="console nat frame"/>
          <p:cNvSpPr/>
          <p:nvPr/>
        </p:nvSpPr>
        <p:spPr>
          <a:xfrm>
            <a:off x="6766560" y="3092062"/>
            <a:ext cx="4919472" cy="996696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  <a:effectLst>
            <a:outerShdw sx="100000" sy="100000" kx="0" ky="0" algn="bl" rotWithShape="0" blurRad="127000" dist="38100" dir="5400000">
              <a:srgbClr val="0F2B2F">
                <a:alpha val="16000"/>
              </a:srgbClr>
            </a:outerShdw>
          </a:effectLst>
        </p:spPr>
      </p:sp>
      <p:pic>
        <p:nvPicPr>
          <p:cNvPr id="29" name="console nat screenshot" descr="NAT gateway for the private subnet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3137782"/>
            <a:ext cx="4828032" cy="905256"/>
          </a:xfrm>
          <a:prstGeom prst="rect">
            <a:avLst/>
          </a:prstGeom>
        </p:spPr>
      </p:pic>
      <p:sp>
        <p:nvSpPr>
          <p:cNvPr id="30" name="console nat caption"/>
          <p:cNvSpPr txBox="1"/>
          <p:nvPr/>
        </p:nvSpPr>
        <p:spPr>
          <a:xfrm>
            <a:off x="6812280" y="4161910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NAT gateway for the private subnets</a:t>
            </a:r>
            <a:endParaRPr lang="en-US" sz="1100" dirty="0"/>
          </a:p>
        </p:txBody>
      </p:sp>
      <p:sp>
        <p:nvSpPr>
          <p:cNvPr id="31" name="console ec2 frame"/>
          <p:cNvSpPr/>
          <p:nvPr/>
        </p:nvSpPr>
        <p:spPr>
          <a:xfrm>
            <a:off x="6766560" y="4573390"/>
            <a:ext cx="4919472" cy="92669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  <a:effectLst>
            <a:outerShdw sx="100000" sy="100000" kx="0" ky="0" algn="bl" rotWithShape="0" blurRad="127000" dist="38100" dir="5400000">
              <a:srgbClr val="0F2B2F">
                <a:alpha val="16000"/>
              </a:srgbClr>
            </a:outerShdw>
          </a:effectLst>
        </p:spPr>
      </p:sp>
      <p:pic>
        <p:nvPicPr>
          <p:cNvPr id="32" name="console ec2 screenshot" descr="Worker node: c7i-flex.large, 3/3 checks passed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2280" y="4619110"/>
            <a:ext cx="4828032" cy="835250"/>
          </a:xfrm>
          <a:prstGeom prst="rect">
            <a:avLst/>
          </a:prstGeom>
        </p:spPr>
      </p:pic>
      <p:sp>
        <p:nvSpPr>
          <p:cNvPr id="33" name="console ec2 caption"/>
          <p:cNvSpPr txBox="1"/>
          <p:nvPr/>
        </p:nvSpPr>
        <p:spPr>
          <a:xfrm>
            <a:off x="6812280" y="5573231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Worker node: c7i-flex.large, 3/3 checks passed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371600" y="38404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Kubernetes deployment: CI ships it to EKS</a:t>
            </a:r>
            <a:endParaRPr lang="en-US" sz="3400" dirty="0"/>
          </a:p>
        </p:txBody>
      </p:sp>
      <p:sp>
        <p:nvSpPr>
          <p:cNvPr id="3" name="stage badge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stage icon" descr="Kuberne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47472" cy="347472"/>
          </a:xfrm>
          <a:prstGeom prst="rect">
            <a:avLst/>
          </a:prstGeom>
        </p:spPr>
      </p:pic>
      <p:sp>
        <p:nvSpPr>
          <p:cNvPr id="5" name="tracker 1"/>
          <p:cNvSpPr/>
          <p:nvPr/>
        </p:nvSpPr>
        <p:spPr>
          <a:xfrm>
            <a:off x="4709160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6" name="tracker 2"/>
          <p:cNvSpPr/>
          <p:nvPr/>
        </p:nvSpPr>
        <p:spPr>
          <a:xfrm>
            <a:off x="4928616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7" name="tracker 3"/>
          <p:cNvSpPr/>
          <p:nvPr/>
        </p:nvSpPr>
        <p:spPr>
          <a:xfrm>
            <a:off x="5148072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8" name="tracker 4"/>
          <p:cNvSpPr/>
          <p:nvPr/>
        </p:nvSpPr>
        <p:spPr>
          <a:xfrm>
            <a:off x="5367528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9" name="tracker 5"/>
          <p:cNvSpPr/>
          <p:nvPr/>
        </p:nvSpPr>
        <p:spPr>
          <a:xfrm>
            <a:off x="5586984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0" name="tracker 6"/>
          <p:cNvSpPr/>
          <p:nvPr/>
        </p:nvSpPr>
        <p:spPr>
          <a:xfrm>
            <a:off x="5806440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1" name="tracker 7"/>
          <p:cNvSpPr/>
          <p:nvPr/>
        </p:nvSpPr>
        <p:spPr>
          <a:xfrm>
            <a:off x="6025896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2" name="tracker 8"/>
          <p:cNvSpPr/>
          <p:nvPr/>
        </p:nvSpPr>
        <p:spPr>
          <a:xfrm>
            <a:off x="6217920" y="6428232"/>
            <a:ext cx="173736" cy="173736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3" name="tracker 9"/>
          <p:cNvSpPr/>
          <p:nvPr/>
        </p:nvSpPr>
        <p:spPr>
          <a:xfrm>
            <a:off x="6464808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4" name="tracker 10"/>
          <p:cNvSpPr/>
          <p:nvPr/>
        </p:nvSpPr>
        <p:spPr>
          <a:xfrm>
            <a:off x="6684264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5" name="tracker 11"/>
          <p:cNvSpPr/>
          <p:nvPr/>
        </p:nvSpPr>
        <p:spPr>
          <a:xfrm>
            <a:off x="6903720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6" name="tracker 12"/>
          <p:cNvSpPr/>
          <p:nvPr/>
        </p:nvSpPr>
        <p:spPr>
          <a:xfrm>
            <a:off x="7123176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7" name="tracker 13"/>
          <p:cNvSpPr/>
          <p:nvPr/>
        </p:nvSpPr>
        <p:spPr>
          <a:xfrm>
            <a:off x="7342632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8" name="tracker label"/>
          <p:cNvSpPr txBox="1"/>
          <p:nvPr/>
        </p:nvSpPr>
        <p:spPr>
          <a:xfrm>
            <a:off x="7653528" y="63916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Stage 8 of 13 · Kubernetes</a:t>
            </a:r>
            <a:endParaRPr lang="en-US" sz="1000" dirty="0"/>
          </a:p>
        </p:txBody>
      </p:sp>
      <p:sp>
        <p:nvSpPr>
          <p:cNvPr id="19" name="kubectl eks frame"/>
          <p:cNvSpPr/>
          <p:nvPr/>
        </p:nvSpPr>
        <p:spPr>
          <a:xfrm>
            <a:off x="502920" y="1325880"/>
            <a:ext cx="6949440" cy="3369564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  <a:effectLst>
            <a:outerShdw sx="100000" sy="100000" kx="0" ky="0" algn="bl" rotWithShape="0" blurRad="127000" dist="38100" dir="5400000">
              <a:srgbClr val="0F2B2F">
                <a:alpha val="16000"/>
              </a:srgbClr>
            </a:outerShdw>
          </a:effectLst>
        </p:spPr>
      </p:sp>
      <p:pic>
        <p:nvPicPr>
          <p:cNvPr id="20" name="kubectl eks screenshot" descr="kubectl on staydesk-eks after the pipeline deployed fbdd61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858000" cy="3278124"/>
          </a:xfrm>
          <a:prstGeom prst="rect">
            <a:avLst/>
          </a:prstGeom>
        </p:spPr>
      </p:pic>
      <p:sp>
        <p:nvSpPr>
          <p:cNvPr id="21" name="kubectl eks caption"/>
          <p:cNvSpPr txBox="1"/>
          <p:nvPr/>
        </p:nvSpPr>
        <p:spPr>
          <a:xfrm>
            <a:off x="548640" y="476859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kubectl on staydesk-eks after the pipeline deployed fbdd61b</a:t>
            </a:r>
            <a:endParaRPr lang="en-US" sz="1100" dirty="0"/>
          </a:p>
        </p:txBody>
      </p:sp>
      <p:sp>
        <p:nvSpPr>
          <p:cNvPr id="22" name="deploy flow title"/>
          <p:cNvSpPr txBox="1"/>
          <p:nvPr/>
        </p:nvSpPr>
        <p:spPr>
          <a:xfrm>
            <a:off x="7772400" y="1325880"/>
            <a:ext cx="3867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How the deploy job reaches the cluster</a:t>
            </a:r>
            <a:endParaRPr lang="en-US" sz="1600" dirty="0"/>
          </a:p>
        </p:txBody>
      </p:sp>
      <p:sp>
        <p:nvSpPr>
          <p:cNvPr id="23" name="flow 1 dot"/>
          <p:cNvSpPr/>
          <p:nvPr/>
        </p:nvSpPr>
        <p:spPr>
          <a:xfrm>
            <a:off x="7772400" y="18288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flow 1 num"/>
          <p:cNvSpPr txBox="1"/>
          <p:nvPr/>
        </p:nvSpPr>
        <p:spPr>
          <a:xfrm>
            <a:off x="777240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5" name="flow 1 text"/>
          <p:cNvSpPr txBox="1"/>
          <p:nvPr/>
        </p:nvSpPr>
        <p:spPr>
          <a:xfrm>
            <a:off x="8321040" y="1792224"/>
            <a:ext cx="3319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GitHub issues a short-lived OIDC token</a:t>
            </a:r>
            <a:endParaRPr lang="en-US" sz="1400" dirty="0"/>
          </a:p>
        </p:txBody>
      </p:sp>
      <p:sp>
        <p:nvSpPr>
          <p:cNvPr id="26" name="flow 2 dot"/>
          <p:cNvSpPr/>
          <p:nvPr/>
        </p:nvSpPr>
        <p:spPr>
          <a:xfrm>
            <a:off x="7772400" y="243230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flow 2 num"/>
          <p:cNvSpPr txBox="1"/>
          <p:nvPr/>
        </p:nvSpPr>
        <p:spPr>
          <a:xfrm>
            <a:off x="7772400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8" name="flow 2 text"/>
          <p:cNvSpPr txBox="1"/>
          <p:nvPr/>
        </p:nvSpPr>
        <p:spPr>
          <a:xfrm>
            <a:off x="8321040" y="2395728"/>
            <a:ext cx="3319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AWS lets it assume staydesk-github-deploy</a:t>
            </a:r>
            <a:endParaRPr lang="en-US" sz="1400" dirty="0"/>
          </a:p>
        </p:txBody>
      </p:sp>
      <p:sp>
        <p:nvSpPr>
          <p:cNvPr id="29" name="flow 3 dot"/>
          <p:cNvSpPr/>
          <p:nvPr/>
        </p:nvSpPr>
        <p:spPr>
          <a:xfrm>
            <a:off x="7772400" y="30358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flow 3 num"/>
          <p:cNvSpPr txBox="1"/>
          <p:nvPr/>
        </p:nvSpPr>
        <p:spPr>
          <a:xfrm>
            <a:off x="7772400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31" name="flow 3 text"/>
          <p:cNvSpPr txBox="1"/>
          <p:nvPr/>
        </p:nvSpPr>
        <p:spPr>
          <a:xfrm>
            <a:off x="8321040" y="2999232"/>
            <a:ext cx="3319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aws eks update-kubeconfig</a:t>
            </a:r>
            <a:endParaRPr lang="en-US" sz="1400" dirty="0"/>
          </a:p>
        </p:txBody>
      </p:sp>
      <p:sp>
        <p:nvSpPr>
          <p:cNvPr id="32" name="flow 4 dot"/>
          <p:cNvSpPr/>
          <p:nvPr/>
        </p:nvSpPr>
        <p:spPr>
          <a:xfrm>
            <a:off x="7772400" y="363931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flow 4 num"/>
          <p:cNvSpPr txBox="1"/>
          <p:nvPr/>
        </p:nvSpPr>
        <p:spPr>
          <a:xfrm>
            <a:off x="7772400" y="3639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34" name="flow 4 text"/>
          <p:cNvSpPr txBox="1"/>
          <p:nvPr/>
        </p:nvSpPr>
        <p:spPr>
          <a:xfrm>
            <a:off x="8321040" y="3602736"/>
            <a:ext cx="3319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helm upgrade --install --rollback-on-failure</a:t>
            </a:r>
            <a:endParaRPr lang="en-US" sz="1400" dirty="0"/>
          </a:p>
        </p:txBody>
      </p:sp>
      <p:sp>
        <p:nvSpPr>
          <p:cNvPr id="35" name="flow 5 dot"/>
          <p:cNvSpPr/>
          <p:nvPr/>
        </p:nvSpPr>
        <p:spPr>
          <a:xfrm>
            <a:off x="7772400" y="4242816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6" name="flow 5 num"/>
          <p:cNvSpPr txBox="1"/>
          <p:nvPr/>
        </p:nvSpPr>
        <p:spPr>
          <a:xfrm>
            <a:off x="7772400" y="4242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flow 5 text"/>
          <p:cNvSpPr txBox="1"/>
          <p:nvPr/>
        </p:nvSpPr>
        <p:spPr>
          <a:xfrm>
            <a:off x="8321040" y="4206240"/>
            <a:ext cx="3319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Rollout verified, summary posted</a:t>
            </a:r>
            <a:endParaRPr lang="en-US" sz="1400" dirty="0"/>
          </a:p>
        </p:txBody>
      </p:sp>
      <p:sp>
        <p:nvSpPr>
          <p:cNvPr id="38" name="k8s facts card"/>
          <p:cNvSpPr/>
          <p:nvPr/>
        </p:nvSpPr>
        <p:spPr>
          <a:xfrm>
            <a:off x="548640" y="5212080"/>
            <a:ext cx="11091672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k8s facts"/>
          <p:cNvSpPr txBox="1"/>
          <p:nvPr/>
        </p:nvSpPr>
        <p:spPr>
          <a:xfrm>
            <a:off x="777240" y="521208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2 backend + 2 frontend pods · PostgreSQL StatefulSet on an EBS gp3 volume · restricted Pod Security · 0 restarts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371600" y="38404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Helm: the whole app as one versioned package</a:t>
            </a:r>
            <a:endParaRPr lang="en-US" sz="3400" dirty="0"/>
          </a:p>
        </p:txBody>
      </p:sp>
      <p:sp>
        <p:nvSpPr>
          <p:cNvPr id="3" name="stage badge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stage icon" descr="Hel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47472" cy="347472"/>
          </a:xfrm>
          <a:prstGeom prst="rect">
            <a:avLst/>
          </a:prstGeom>
        </p:spPr>
      </p:pic>
      <p:sp>
        <p:nvSpPr>
          <p:cNvPr id="5" name="tracker 1"/>
          <p:cNvSpPr/>
          <p:nvPr/>
        </p:nvSpPr>
        <p:spPr>
          <a:xfrm>
            <a:off x="4709160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6" name="tracker 2"/>
          <p:cNvSpPr/>
          <p:nvPr/>
        </p:nvSpPr>
        <p:spPr>
          <a:xfrm>
            <a:off x="4928616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7" name="tracker 3"/>
          <p:cNvSpPr/>
          <p:nvPr/>
        </p:nvSpPr>
        <p:spPr>
          <a:xfrm>
            <a:off x="5148072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8" name="tracker 4"/>
          <p:cNvSpPr/>
          <p:nvPr/>
        </p:nvSpPr>
        <p:spPr>
          <a:xfrm>
            <a:off x="5367528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9" name="tracker 5"/>
          <p:cNvSpPr/>
          <p:nvPr/>
        </p:nvSpPr>
        <p:spPr>
          <a:xfrm>
            <a:off x="5586984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0" name="tracker 6"/>
          <p:cNvSpPr/>
          <p:nvPr/>
        </p:nvSpPr>
        <p:spPr>
          <a:xfrm>
            <a:off x="5806440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1" name="tracker 7"/>
          <p:cNvSpPr/>
          <p:nvPr/>
        </p:nvSpPr>
        <p:spPr>
          <a:xfrm>
            <a:off x="6025896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2" name="tracker 8"/>
          <p:cNvSpPr/>
          <p:nvPr/>
        </p:nvSpPr>
        <p:spPr>
          <a:xfrm>
            <a:off x="6245352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3" name="tracker 9"/>
          <p:cNvSpPr/>
          <p:nvPr/>
        </p:nvSpPr>
        <p:spPr>
          <a:xfrm>
            <a:off x="6437376" y="6428232"/>
            <a:ext cx="173736" cy="173736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4" name="tracker 10"/>
          <p:cNvSpPr/>
          <p:nvPr/>
        </p:nvSpPr>
        <p:spPr>
          <a:xfrm>
            <a:off x="6684264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5" name="tracker 11"/>
          <p:cNvSpPr/>
          <p:nvPr/>
        </p:nvSpPr>
        <p:spPr>
          <a:xfrm>
            <a:off x="6903720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6" name="tracker 12"/>
          <p:cNvSpPr/>
          <p:nvPr/>
        </p:nvSpPr>
        <p:spPr>
          <a:xfrm>
            <a:off x="7123176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7" name="tracker 13"/>
          <p:cNvSpPr/>
          <p:nvPr/>
        </p:nvSpPr>
        <p:spPr>
          <a:xfrm>
            <a:off x="7342632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8" name="tracker label"/>
          <p:cNvSpPr txBox="1"/>
          <p:nvPr/>
        </p:nvSpPr>
        <p:spPr>
          <a:xfrm>
            <a:off x="7653528" y="63916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Stage 9 of 13 · Helm</a:t>
            </a:r>
            <a:endParaRPr lang="en-US" sz="1000" dirty="0"/>
          </a:p>
        </p:txBody>
      </p:sp>
      <p:graphicFrame>
        <p:nvGraphicFramePr>
          <p:cNvPr id="14" name="chart resourc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9494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5720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Template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What it gives us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Deployments ×2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backend (init container runs migrations) and frontend, rolling updates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Services ×3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stable ClusterIP names; headless Service for PostgreSQL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StatefulSet + PVC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PostgreSQL 17 on its own EBS volume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Secret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DATABASE_URL with a random password kept across upgrades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Ingress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/ → frontend, /api /docs → backend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HPA + PDBs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2–6 backend pods; one pod always survives a drain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NetworkPolicy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only backend pods may reach PostgreSQL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ServiceMonitor + dashboard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Prometheus scraping and a ready-made Grafana board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0" name="values title"/>
          <p:cNvSpPr txBox="1"/>
          <p:nvPr/>
        </p:nvSpPr>
        <p:spPr>
          <a:xfrm>
            <a:off x="7863840" y="1325880"/>
            <a:ext cx="3776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One chart, three environments</a:t>
            </a:r>
            <a:endParaRPr lang="en-US" sz="1600" dirty="0"/>
          </a:p>
        </p:txBody>
      </p:sp>
      <p:sp>
        <p:nvSpPr>
          <p:cNvPr id="21" name="values 0"/>
          <p:cNvSpPr/>
          <p:nvPr/>
        </p:nvSpPr>
        <p:spPr>
          <a:xfrm>
            <a:off x="7863840" y="1828800"/>
            <a:ext cx="3776472" cy="64008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values.yaml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defaults</a:t>
            </a:r>
            <a:endParaRPr lang="en-US" sz="1300" dirty="0"/>
          </a:p>
        </p:txBody>
      </p:sp>
      <p:sp>
        <p:nvSpPr>
          <p:cNvPr id="22" name="values 1"/>
          <p:cNvSpPr/>
          <p:nvPr/>
        </p:nvSpPr>
        <p:spPr>
          <a:xfrm>
            <a:off x="7863840" y="2606040"/>
            <a:ext cx="3776472" cy="64008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values-dev.yaml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local kind cluster</a:t>
            </a:r>
            <a:endParaRPr lang="en-US" sz="1300" dirty="0"/>
          </a:p>
        </p:txBody>
      </p:sp>
      <p:sp>
        <p:nvSpPr>
          <p:cNvPr id="23" name="values 2"/>
          <p:cNvSpPr/>
          <p:nvPr/>
        </p:nvSpPr>
        <p:spPr>
          <a:xfrm>
            <a:off x="7863840" y="3383280"/>
            <a:ext cx="3776472" cy="64008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values-prod.yaml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AWS EKS</a:t>
            </a:r>
            <a:endParaRPr lang="en-US" sz="1300" dirty="0"/>
          </a:p>
        </p:txBody>
      </p:sp>
      <p:sp>
        <p:nvSpPr>
          <p:cNvPr id="24" name="helm commands"/>
          <p:cNvSpPr txBox="1"/>
          <p:nvPr/>
        </p:nvSpPr>
        <p:spPr>
          <a:xfrm>
            <a:off x="7863840" y="4206240"/>
            <a:ext cx="37764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helm upgrade --install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staydesk ./helm/staydesk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helm history staydesk -n staydesk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helm rollback staydesk &lt;revision&gt;</a:t>
            </a:r>
            <a:endParaRPr lang="en-US" sz="1200" dirty="0"/>
          </a:p>
        </p:txBody>
      </p:sp>
      <p:sp>
        <p:nvSpPr>
          <p:cNvPr id="25" name="helm lint note"/>
          <p:cNvSpPr txBox="1"/>
          <p:nvPr/>
        </p:nvSpPr>
        <p:spPr>
          <a:xfrm>
            <a:off x="7863840" y="5440680"/>
            <a:ext cx="3776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helm lint passes for all three value files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371600" y="38404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Ingress: one hostname, two backends</a:t>
            </a:r>
            <a:endParaRPr lang="en-US" sz="3400" dirty="0"/>
          </a:p>
        </p:txBody>
      </p:sp>
      <p:sp>
        <p:nvSpPr>
          <p:cNvPr id="3" name="stage badge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stage icon" descr="Ingre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47472" cy="347472"/>
          </a:xfrm>
          <a:prstGeom prst="rect">
            <a:avLst/>
          </a:prstGeom>
        </p:spPr>
      </p:pic>
      <p:sp>
        <p:nvSpPr>
          <p:cNvPr id="5" name="tracker 1"/>
          <p:cNvSpPr/>
          <p:nvPr/>
        </p:nvSpPr>
        <p:spPr>
          <a:xfrm>
            <a:off x="4709160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6" name="tracker 2"/>
          <p:cNvSpPr/>
          <p:nvPr/>
        </p:nvSpPr>
        <p:spPr>
          <a:xfrm>
            <a:off x="4928616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7" name="tracker 3"/>
          <p:cNvSpPr/>
          <p:nvPr/>
        </p:nvSpPr>
        <p:spPr>
          <a:xfrm>
            <a:off x="5148072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8" name="tracker 4"/>
          <p:cNvSpPr/>
          <p:nvPr/>
        </p:nvSpPr>
        <p:spPr>
          <a:xfrm>
            <a:off x="5367528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9" name="tracker 5"/>
          <p:cNvSpPr/>
          <p:nvPr/>
        </p:nvSpPr>
        <p:spPr>
          <a:xfrm>
            <a:off x="5586984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0" name="tracker 6"/>
          <p:cNvSpPr/>
          <p:nvPr/>
        </p:nvSpPr>
        <p:spPr>
          <a:xfrm>
            <a:off x="5806440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1" name="tracker 7"/>
          <p:cNvSpPr/>
          <p:nvPr/>
        </p:nvSpPr>
        <p:spPr>
          <a:xfrm>
            <a:off x="6025896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2" name="tracker 8"/>
          <p:cNvSpPr/>
          <p:nvPr/>
        </p:nvSpPr>
        <p:spPr>
          <a:xfrm>
            <a:off x="6245352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3" name="tracker 9"/>
          <p:cNvSpPr/>
          <p:nvPr/>
        </p:nvSpPr>
        <p:spPr>
          <a:xfrm>
            <a:off x="6464808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4" name="tracker 10"/>
          <p:cNvSpPr/>
          <p:nvPr/>
        </p:nvSpPr>
        <p:spPr>
          <a:xfrm>
            <a:off x="6656832" y="6428232"/>
            <a:ext cx="173736" cy="173736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5" name="tracker 11"/>
          <p:cNvSpPr/>
          <p:nvPr/>
        </p:nvSpPr>
        <p:spPr>
          <a:xfrm>
            <a:off x="6903720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6" name="tracker 12"/>
          <p:cNvSpPr/>
          <p:nvPr/>
        </p:nvSpPr>
        <p:spPr>
          <a:xfrm>
            <a:off x="7123176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7" name="tracker 13"/>
          <p:cNvSpPr/>
          <p:nvPr/>
        </p:nvSpPr>
        <p:spPr>
          <a:xfrm>
            <a:off x="7342632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8" name="tracker label"/>
          <p:cNvSpPr txBox="1"/>
          <p:nvPr/>
        </p:nvSpPr>
        <p:spPr>
          <a:xfrm>
            <a:off x="7653528" y="63916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Stage 10 of 13 · Ingress</a:t>
            </a:r>
            <a:endParaRPr lang="en-US" sz="1000" dirty="0"/>
          </a:p>
        </p:txBody>
      </p:sp>
      <p:sp>
        <p:nvSpPr>
          <p:cNvPr id="19" name="browser"/>
          <p:cNvSpPr/>
          <p:nvPr/>
        </p:nvSpPr>
        <p:spPr>
          <a:xfrm>
            <a:off x="548640" y="1920240"/>
            <a:ext cx="1600200" cy="82296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Browser</a:t>
            </a:r>
            <a:endParaRPr lang="en-US" sz="1500" dirty="0"/>
          </a:p>
        </p:txBody>
      </p:sp>
      <p:sp>
        <p:nvSpPr>
          <p:cNvPr id="20" name="to lb"/>
          <p:cNvSpPr/>
          <p:nvPr/>
        </p:nvSpPr>
        <p:spPr>
          <a:xfrm>
            <a:off x="2240280" y="2331720"/>
            <a:ext cx="50292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1" name="aws lb"/>
          <p:cNvSpPr/>
          <p:nvPr/>
        </p:nvSpPr>
        <p:spPr>
          <a:xfrm>
            <a:off x="2834640" y="1920240"/>
            <a:ext cx="2011680" cy="82296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AWS load balancer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(public)</a:t>
            </a:r>
            <a:endParaRPr lang="en-US" sz="1400" dirty="0"/>
          </a:p>
        </p:txBody>
      </p:sp>
      <p:sp>
        <p:nvSpPr>
          <p:cNvPr id="22" name="to traefik"/>
          <p:cNvSpPr/>
          <p:nvPr/>
        </p:nvSpPr>
        <p:spPr>
          <a:xfrm>
            <a:off x="4937760" y="2331720"/>
            <a:ext cx="50292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3" name="traefik"/>
          <p:cNvSpPr/>
          <p:nvPr/>
        </p:nvSpPr>
        <p:spPr>
          <a:xfrm>
            <a:off x="5532120" y="1920240"/>
            <a:ext cx="2011680" cy="82296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Traefik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Ingress controller</a:t>
            </a:r>
            <a:endParaRPr lang="en-US" sz="1400" dirty="0"/>
          </a:p>
        </p:txBody>
      </p:sp>
      <p:sp>
        <p:nvSpPr>
          <p:cNvPr id="24" name="split stem"/>
          <p:cNvSpPr/>
          <p:nvPr/>
        </p:nvSpPr>
        <p:spPr>
          <a:xfrm>
            <a:off x="7635240" y="2331720"/>
            <a:ext cx="32004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25" name="split spine"/>
          <p:cNvSpPr/>
          <p:nvPr/>
        </p:nvSpPr>
        <p:spPr>
          <a:xfrm>
            <a:off x="7955280" y="1783080"/>
            <a:ext cx="0" cy="160020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26" name="to frontend route"/>
          <p:cNvSpPr/>
          <p:nvPr/>
        </p:nvSpPr>
        <p:spPr>
          <a:xfrm>
            <a:off x="7955280" y="1783080"/>
            <a:ext cx="41148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7" name="to backend route"/>
          <p:cNvSpPr/>
          <p:nvPr/>
        </p:nvSpPr>
        <p:spPr>
          <a:xfrm>
            <a:off x="7955280" y="3383280"/>
            <a:ext cx="41148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8" name="frontend route"/>
          <p:cNvSpPr/>
          <p:nvPr/>
        </p:nvSpPr>
        <p:spPr>
          <a:xfrm>
            <a:off x="8458200" y="1371600"/>
            <a:ext cx="3182112" cy="82296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staydesk-frontend → React (nginx) ×2</a:t>
            </a:r>
            <a:endParaRPr lang="en-US" sz="1300" dirty="0"/>
          </a:p>
        </p:txBody>
      </p:sp>
      <p:sp>
        <p:nvSpPr>
          <p:cNvPr id="29" name="backend route"/>
          <p:cNvSpPr/>
          <p:nvPr/>
        </p:nvSpPr>
        <p:spPr>
          <a:xfrm>
            <a:off x="8458200" y="2971800"/>
            <a:ext cx="3182112" cy="82296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  /docs  /openapi.json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staydesk-backend → FastAPI ×2–6</a:t>
            </a:r>
            <a:endParaRPr lang="en-US" sz="1300" dirty="0"/>
          </a:p>
        </p:txBody>
      </p:sp>
      <p:sp>
        <p:nvSpPr>
          <p:cNvPr id="30" name="curl eks frame"/>
          <p:cNvSpPr/>
          <p:nvPr/>
        </p:nvSpPr>
        <p:spPr>
          <a:xfrm>
            <a:off x="502920" y="4114800"/>
            <a:ext cx="7132320" cy="126726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  <a:effectLst>
            <a:outerShdw sx="100000" sy="100000" kx="0" ky="0" algn="bl" rotWithShape="0" blurRad="127000" dist="38100" dir="5400000">
              <a:srgbClr val="0F2B2F">
                <a:alpha val="16000"/>
              </a:srgbClr>
            </a:outerShdw>
          </a:effectLst>
        </p:spPr>
      </p:sp>
      <p:pic>
        <p:nvPicPr>
          <p:cNvPr id="31" name="curl eks screenshot" descr="curl through the public load balancer: the API reports the deployed comm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60520"/>
            <a:ext cx="7040880" cy="1175827"/>
          </a:xfrm>
          <a:prstGeom prst="rect">
            <a:avLst/>
          </a:prstGeom>
        </p:spPr>
      </p:pic>
      <p:sp>
        <p:nvSpPr>
          <p:cNvPr id="32" name="curl eks caption"/>
          <p:cNvSpPr txBox="1"/>
          <p:nvPr/>
        </p:nvSpPr>
        <p:spPr>
          <a:xfrm>
            <a:off x="548640" y="5455219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curl through the public load balancer: the API reports the deployed commit</a:t>
            </a:r>
            <a:endParaRPr lang="en-US" sz="1100" dirty="0"/>
          </a:p>
        </p:txBody>
      </p:sp>
      <p:sp>
        <p:nvSpPr>
          <p:cNvPr id="33" name="ingress note card"/>
          <p:cNvSpPr/>
          <p:nvPr/>
        </p:nvSpPr>
        <p:spPr>
          <a:xfrm>
            <a:off x="7955280" y="4114800"/>
            <a:ext cx="3685032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ingress note"/>
          <p:cNvSpPr txBox="1"/>
          <p:nvPr/>
        </p:nvSpPr>
        <p:spPr>
          <a:xfrm>
            <a:off x="8183880" y="425196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An Ingress is only configuration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controller must implement it. I chose Traefik because the community ingress-nginx was retired in March 2026.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371600" y="38404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Autoscaling: the HPA reacts in under a minute</a:t>
            </a:r>
            <a:endParaRPr lang="en-US" sz="3400" dirty="0"/>
          </a:p>
        </p:txBody>
      </p:sp>
      <p:sp>
        <p:nvSpPr>
          <p:cNvPr id="3" name="stage badge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stage icon" descr="Autoscal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47472" cy="347472"/>
          </a:xfrm>
          <a:prstGeom prst="rect">
            <a:avLst/>
          </a:prstGeom>
        </p:spPr>
      </p:pic>
      <p:sp>
        <p:nvSpPr>
          <p:cNvPr id="5" name="tracker 1"/>
          <p:cNvSpPr/>
          <p:nvPr/>
        </p:nvSpPr>
        <p:spPr>
          <a:xfrm>
            <a:off x="4709160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6" name="tracker 2"/>
          <p:cNvSpPr/>
          <p:nvPr/>
        </p:nvSpPr>
        <p:spPr>
          <a:xfrm>
            <a:off x="4928616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7" name="tracker 3"/>
          <p:cNvSpPr/>
          <p:nvPr/>
        </p:nvSpPr>
        <p:spPr>
          <a:xfrm>
            <a:off x="5148072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8" name="tracker 4"/>
          <p:cNvSpPr/>
          <p:nvPr/>
        </p:nvSpPr>
        <p:spPr>
          <a:xfrm>
            <a:off x="5367528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9" name="tracker 5"/>
          <p:cNvSpPr/>
          <p:nvPr/>
        </p:nvSpPr>
        <p:spPr>
          <a:xfrm>
            <a:off x="5586984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0" name="tracker 6"/>
          <p:cNvSpPr/>
          <p:nvPr/>
        </p:nvSpPr>
        <p:spPr>
          <a:xfrm>
            <a:off x="5806440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1" name="tracker 7"/>
          <p:cNvSpPr/>
          <p:nvPr/>
        </p:nvSpPr>
        <p:spPr>
          <a:xfrm>
            <a:off x="6025896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2" name="tracker 8"/>
          <p:cNvSpPr/>
          <p:nvPr/>
        </p:nvSpPr>
        <p:spPr>
          <a:xfrm>
            <a:off x="6245352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3" name="tracker 9"/>
          <p:cNvSpPr/>
          <p:nvPr/>
        </p:nvSpPr>
        <p:spPr>
          <a:xfrm>
            <a:off x="6464808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4" name="tracker 10"/>
          <p:cNvSpPr/>
          <p:nvPr/>
        </p:nvSpPr>
        <p:spPr>
          <a:xfrm>
            <a:off x="6684264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5" name="tracker 11"/>
          <p:cNvSpPr/>
          <p:nvPr/>
        </p:nvSpPr>
        <p:spPr>
          <a:xfrm>
            <a:off x="6876288" y="6428232"/>
            <a:ext cx="173736" cy="173736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6" name="tracker 12"/>
          <p:cNvSpPr/>
          <p:nvPr/>
        </p:nvSpPr>
        <p:spPr>
          <a:xfrm>
            <a:off x="7123176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7" name="tracker 13"/>
          <p:cNvSpPr/>
          <p:nvPr/>
        </p:nvSpPr>
        <p:spPr>
          <a:xfrm>
            <a:off x="7342632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8" name="tracker label"/>
          <p:cNvSpPr txBox="1"/>
          <p:nvPr/>
        </p:nvSpPr>
        <p:spPr>
          <a:xfrm>
            <a:off x="7653528" y="63916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Stage 11 of 13 · Autoscaling</a:t>
            </a:r>
            <a:endParaRPr lang="en-US" sz="1000" dirty="0"/>
          </a:p>
        </p:txBody>
      </p:sp>
      <p:sp>
        <p:nvSpPr>
          <p:cNvPr id="19" name="hpa eks frame"/>
          <p:cNvSpPr/>
          <p:nvPr/>
        </p:nvSpPr>
        <p:spPr>
          <a:xfrm>
            <a:off x="502920" y="1325880"/>
            <a:ext cx="7040880" cy="3152668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  <a:effectLst>
            <a:outerShdw sx="100000" sy="100000" kx="0" ky="0" algn="bl" rotWithShape="0" blurRad="127000" dist="38100" dir="5400000">
              <a:srgbClr val="0F2B2F">
                <a:alpha val="16000"/>
              </a:srgbClr>
            </a:outerShdw>
          </a:effectLst>
        </p:spPr>
      </p:sp>
      <p:pic>
        <p:nvPicPr>
          <p:cNvPr id="20" name="hpa eks screenshot" descr="./scripts/load-test.sh on EKS: four in-cluster workers for 180 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949440" cy="3061228"/>
          </a:xfrm>
          <a:prstGeom prst="rect">
            <a:avLst/>
          </a:prstGeom>
        </p:spPr>
      </p:pic>
      <p:sp>
        <p:nvSpPr>
          <p:cNvPr id="21" name="hpa eks caption"/>
          <p:cNvSpPr txBox="1"/>
          <p:nvPr/>
        </p:nvSpPr>
        <p:spPr>
          <a:xfrm>
            <a:off x="548640" y="45517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./scripts/load-test.sh on EKS: four in-cluster workers for 180 s</a:t>
            </a:r>
            <a:endParaRPr lang="en-US" sz="1100" dirty="0"/>
          </a:p>
        </p:txBody>
      </p:sp>
      <p:sp>
        <p:nvSpPr>
          <p:cNvPr id="22" name="hpa cpu value"/>
          <p:cNvSpPr txBox="1"/>
          <p:nvPr/>
        </p:nvSpPr>
        <p:spPr>
          <a:xfrm>
            <a:off x="7863840" y="12801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373%</a:t>
            </a:r>
            <a:endParaRPr lang="en-US" sz="4000" dirty="0"/>
          </a:p>
        </p:txBody>
      </p:sp>
      <p:sp>
        <p:nvSpPr>
          <p:cNvPr id="23" name="hpa cpu label"/>
          <p:cNvSpPr txBox="1"/>
          <p:nvPr/>
        </p:nvSpPr>
        <p:spPr>
          <a:xfrm>
            <a:off x="7863840" y="19933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peak CPU, measured against each pod's CPU request</a:t>
            </a:r>
            <a:endParaRPr lang="en-US" sz="1300" dirty="0"/>
          </a:p>
        </p:txBody>
      </p:sp>
      <p:sp>
        <p:nvSpPr>
          <p:cNvPr id="24" name="hpa replicas value"/>
          <p:cNvSpPr txBox="1"/>
          <p:nvPr/>
        </p:nvSpPr>
        <p:spPr>
          <a:xfrm>
            <a:off x="9829800" y="128016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→ 6</a:t>
            </a:r>
            <a:endParaRPr lang="en-US" sz="4000" dirty="0"/>
          </a:p>
        </p:txBody>
      </p:sp>
      <p:sp>
        <p:nvSpPr>
          <p:cNvPr id="25" name="hpa replicas label"/>
          <p:cNvSpPr txBox="1"/>
          <p:nvPr/>
        </p:nvSpPr>
        <p:spPr>
          <a:xfrm>
            <a:off x="9829800" y="1993392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replicas requested within 54 s</a:t>
            </a:r>
            <a:endParaRPr lang="en-US" sz="1300" dirty="0"/>
          </a:p>
        </p:txBody>
      </p:sp>
      <p:sp>
        <p:nvSpPr>
          <p:cNvPr id="26" name="hpa target value"/>
          <p:cNvSpPr txBox="1"/>
          <p:nvPr/>
        </p:nvSpPr>
        <p:spPr>
          <a:xfrm>
            <a:off x="7863840" y="27432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4000" dirty="0"/>
          </a:p>
        </p:txBody>
      </p:sp>
      <p:sp>
        <p:nvSpPr>
          <p:cNvPr id="27" name="hpa target label"/>
          <p:cNvSpPr txBox="1"/>
          <p:nvPr/>
        </p:nvSpPr>
        <p:spPr>
          <a:xfrm>
            <a:off x="7863840" y="34564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CPU target in values-prod.yaml</a:t>
            </a:r>
            <a:endParaRPr lang="en-US" sz="1300" dirty="0"/>
          </a:p>
        </p:txBody>
      </p:sp>
      <p:sp>
        <p:nvSpPr>
          <p:cNvPr id="28" name="hpa window value"/>
          <p:cNvSpPr txBox="1"/>
          <p:nvPr/>
        </p:nvSpPr>
        <p:spPr>
          <a:xfrm>
            <a:off x="9829800" y="274320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min</a:t>
            </a:r>
            <a:endParaRPr lang="en-US" sz="4000" dirty="0"/>
          </a:p>
        </p:txBody>
      </p:sp>
      <p:sp>
        <p:nvSpPr>
          <p:cNvPr id="29" name="hpa window label"/>
          <p:cNvSpPr txBox="1"/>
          <p:nvPr/>
        </p:nvSpPr>
        <p:spPr>
          <a:xfrm>
            <a:off x="9829800" y="3456432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scale-down stabilisation window</a:t>
            </a:r>
            <a:endParaRPr lang="en-US" sz="1300" dirty="0"/>
          </a:p>
        </p:txBody>
      </p:sp>
      <p:sp>
        <p:nvSpPr>
          <p:cNvPr id="30" name="hpa lesson card"/>
          <p:cNvSpPr/>
          <p:nvPr/>
        </p:nvSpPr>
        <p:spPr>
          <a:xfrm>
            <a:off x="548640" y="4983480"/>
            <a:ext cx="11091672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31" name="lesson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257800"/>
            <a:ext cx="457200" cy="457200"/>
          </a:xfrm>
          <a:prstGeom prst="rect">
            <a:avLst/>
          </a:prstGeom>
        </p:spPr>
      </p:pic>
      <p:sp>
        <p:nvSpPr>
          <p:cNvPr id="32" name="hpa lesson"/>
          <p:cNvSpPr txBox="1"/>
          <p:nvPr/>
        </p:nvSpPr>
        <p:spPr>
          <a:xfrm>
            <a:off x="1463040" y="5029200"/>
            <a:ext cx="9966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Lesson: the HPA scales pods, not nodes.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6th pod stayed Pending because I ran one node to keep cost down. In production, Cluster Autoscaler or Karpenter would add a node.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371600" y="38404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Monitoring: Prometheus scrapes, Grafana explains</a:t>
            </a:r>
            <a:endParaRPr lang="en-US" sz="3400" dirty="0"/>
          </a:p>
        </p:txBody>
      </p:sp>
      <p:sp>
        <p:nvSpPr>
          <p:cNvPr id="3" name="stage badge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stage icon" descr="Monito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47472" cy="347472"/>
          </a:xfrm>
          <a:prstGeom prst="rect">
            <a:avLst/>
          </a:prstGeom>
        </p:spPr>
      </p:pic>
      <p:sp>
        <p:nvSpPr>
          <p:cNvPr id="5" name="tracker 1"/>
          <p:cNvSpPr/>
          <p:nvPr/>
        </p:nvSpPr>
        <p:spPr>
          <a:xfrm>
            <a:off x="4709160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6" name="tracker 2"/>
          <p:cNvSpPr/>
          <p:nvPr/>
        </p:nvSpPr>
        <p:spPr>
          <a:xfrm>
            <a:off x="4928616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7" name="tracker 3"/>
          <p:cNvSpPr/>
          <p:nvPr/>
        </p:nvSpPr>
        <p:spPr>
          <a:xfrm>
            <a:off x="5148072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8" name="tracker 4"/>
          <p:cNvSpPr/>
          <p:nvPr/>
        </p:nvSpPr>
        <p:spPr>
          <a:xfrm>
            <a:off x="5367528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9" name="tracker 5"/>
          <p:cNvSpPr/>
          <p:nvPr/>
        </p:nvSpPr>
        <p:spPr>
          <a:xfrm>
            <a:off x="5586984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0" name="tracker 6"/>
          <p:cNvSpPr/>
          <p:nvPr/>
        </p:nvSpPr>
        <p:spPr>
          <a:xfrm>
            <a:off x="5806440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1" name="tracker 7"/>
          <p:cNvSpPr/>
          <p:nvPr/>
        </p:nvSpPr>
        <p:spPr>
          <a:xfrm>
            <a:off x="6025896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2" name="tracker 8"/>
          <p:cNvSpPr/>
          <p:nvPr/>
        </p:nvSpPr>
        <p:spPr>
          <a:xfrm>
            <a:off x="6245352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3" name="tracker 9"/>
          <p:cNvSpPr/>
          <p:nvPr/>
        </p:nvSpPr>
        <p:spPr>
          <a:xfrm>
            <a:off x="6464808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4" name="tracker 10"/>
          <p:cNvSpPr/>
          <p:nvPr/>
        </p:nvSpPr>
        <p:spPr>
          <a:xfrm>
            <a:off x="6684264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5" name="tracker 11"/>
          <p:cNvSpPr/>
          <p:nvPr/>
        </p:nvSpPr>
        <p:spPr>
          <a:xfrm>
            <a:off x="6903720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6" name="tracker 12"/>
          <p:cNvSpPr/>
          <p:nvPr/>
        </p:nvSpPr>
        <p:spPr>
          <a:xfrm>
            <a:off x="7095744" y="6428232"/>
            <a:ext cx="173736" cy="173736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7" name="tracker 13"/>
          <p:cNvSpPr/>
          <p:nvPr/>
        </p:nvSpPr>
        <p:spPr>
          <a:xfrm>
            <a:off x="7342632" y="6455664"/>
            <a:ext cx="118872" cy="11887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8" name="tracker label"/>
          <p:cNvSpPr txBox="1"/>
          <p:nvPr/>
        </p:nvSpPr>
        <p:spPr>
          <a:xfrm>
            <a:off x="7653528" y="63916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Stage 12 of 13 · Monitoring</a:t>
            </a:r>
            <a:endParaRPr lang="en-US" sz="1000" dirty="0"/>
          </a:p>
        </p:txBody>
      </p:sp>
      <p:sp>
        <p:nvSpPr>
          <p:cNvPr id="19" name="grafana eks frame"/>
          <p:cNvSpPr/>
          <p:nvPr/>
        </p:nvSpPr>
        <p:spPr>
          <a:xfrm>
            <a:off x="502920" y="1325880"/>
            <a:ext cx="7360920" cy="4634865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  <a:effectLst>
            <a:outerShdw sx="100000" sy="100000" kx="0" ky="0" algn="bl" rotWithShape="0" blurRad="127000" dist="38100" dir="5400000">
              <a:srgbClr val="0F2B2F">
                <a:alpha val="16000"/>
              </a:srgbClr>
            </a:outerShdw>
          </a:effectLst>
        </p:spPr>
      </p:sp>
      <p:pic>
        <p:nvPicPr>
          <p:cNvPr id="20" name="grafana eks screenshot" descr="Grafana on EKS during the load tes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7269480" cy="4543425"/>
          </a:xfrm>
          <a:prstGeom prst="rect">
            <a:avLst/>
          </a:prstGeom>
        </p:spPr>
      </p:pic>
      <p:sp>
        <p:nvSpPr>
          <p:cNvPr id="21" name="grafana eks caption"/>
          <p:cNvSpPr txBox="1"/>
          <p:nvPr/>
        </p:nvSpPr>
        <p:spPr>
          <a:xfrm>
            <a:off x="548640" y="6033897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Grafana on EKS during the load test</a:t>
            </a:r>
            <a:endParaRPr lang="en-US" sz="1100" dirty="0"/>
          </a:p>
        </p:txBody>
      </p:sp>
      <p:sp>
        <p:nvSpPr>
          <p:cNvPr id="22" name="prometheus eks frame"/>
          <p:cNvSpPr/>
          <p:nvPr/>
        </p:nvSpPr>
        <p:spPr>
          <a:xfrm>
            <a:off x="8092440" y="1325880"/>
            <a:ext cx="3593592" cy="201237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  <a:effectLst>
            <a:outerShdw sx="100000" sy="100000" kx="0" ky="0" algn="bl" rotWithShape="0" blurRad="127000" dist="38100" dir="5400000">
              <a:srgbClr val="0F2B2F">
                <a:alpha val="16000"/>
              </a:srgbClr>
            </a:outerShdw>
          </a:effectLst>
        </p:spPr>
      </p:sp>
      <p:pic>
        <p:nvPicPr>
          <p:cNvPr id="23" name="prometheus eks screenshot" descr="Prometheus: every backend pod U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371600"/>
            <a:ext cx="3502152" cy="1920930"/>
          </a:xfrm>
          <a:prstGeom prst="rect">
            <a:avLst/>
          </a:prstGeom>
        </p:spPr>
      </p:pic>
      <p:sp>
        <p:nvSpPr>
          <p:cNvPr id="24" name="prometheus eks caption"/>
          <p:cNvSpPr txBox="1"/>
          <p:nvPr/>
        </p:nvSpPr>
        <p:spPr>
          <a:xfrm>
            <a:off x="8138160" y="3411402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Prometheus: every backend pod UP</a:t>
            </a:r>
            <a:endParaRPr lang="en-US" sz="1100" dirty="0"/>
          </a:p>
        </p:txBody>
      </p:sp>
      <p:sp>
        <p:nvSpPr>
          <p:cNvPr id="25" name="mon requests value"/>
          <p:cNvSpPr txBox="1"/>
          <p:nvPr/>
        </p:nvSpPr>
        <p:spPr>
          <a:xfrm>
            <a:off x="8138160" y="38404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168/s</a:t>
            </a:r>
            <a:endParaRPr lang="en-US" sz="1900" dirty="0"/>
          </a:p>
        </p:txBody>
      </p:sp>
      <p:sp>
        <p:nvSpPr>
          <p:cNvPr id="26" name="mon requests label"/>
          <p:cNvSpPr txBox="1"/>
          <p:nvPr/>
        </p:nvSpPr>
        <p:spPr>
          <a:xfrm>
            <a:off x="8138160" y="4297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requests</a:t>
            </a:r>
            <a:endParaRPr lang="en-US" sz="1100" dirty="0"/>
          </a:p>
        </p:txBody>
      </p:sp>
      <p:sp>
        <p:nvSpPr>
          <p:cNvPr id="27" name="mon p95 latency value"/>
          <p:cNvSpPr txBox="1"/>
          <p:nvPr/>
        </p:nvSpPr>
        <p:spPr>
          <a:xfrm>
            <a:off x="9354312" y="38404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 ms</a:t>
            </a:r>
            <a:endParaRPr lang="en-US" sz="1900" dirty="0"/>
          </a:p>
        </p:txBody>
      </p:sp>
      <p:sp>
        <p:nvSpPr>
          <p:cNvPr id="28" name="mon p95 latency label"/>
          <p:cNvSpPr txBox="1"/>
          <p:nvPr/>
        </p:nvSpPr>
        <p:spPr>
          <a:xfrm>
            <a:off x="9354312" y="4297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p95 latency</a:t>
            </a:r>
            <a:endParaRPr lang="en-US" sz="1100" dirty="0"/>
          </a:p>
        </p:txBody>
      </p:sp>
      <p:sp>
        <p:nvSpPr>
          <p:cNvPr id="29" name="mon 5xx errors value"/>
          <p:cNvSpPr txBox="1"/>
          <p:nvPr/>
        </p:nvSpPr>
        <p:spPr>
          <a:xfrm>
            <a:off x="10570464" y="38404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0.00%</a:t>
            </a:r>
            <a:endParaRPr lang="en-US" sz="1900" dirty="0"/>
          </a:p>
        </p:txBody>
      </p:sp>
      <p:sp>
        <p:nvSpPr>
          <p:cNvPr id="30" name="mon 5xx errors label"/>
          <p:cNvSpPr txBox="1"/>
          <p:nvPr/>
        </p:nvSpPr>
        <p:spPr>
          <a:xfrm>
            <a:off x="10570464" y="4297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5xx errors</a:t>
            </a:r>
            <a:endParaRPr lang="en-US" sz="1100" dirty="0"/>
          </a:p>
        </p:txBody>
      </p:sp>
      <p:sp>
        <p:nvSpPr>
          <p:cNvPr id="31" name="monitoring bullets"/>
          <p:cNvSpPr txBox="1"/>
          <p:nvPr/>
        </p:nvSpPr>
        <p:spPr>
          <a:xfrm>
            <a:off x="8138160" y="4754880"/>
            <a:ext cx="35021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ServiceMonitor scrapes /metrics on every pod every 15 s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Custom metric: staydesk_reservation_events_total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Dashboard ships with the Helm chart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371600" y="38404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Troubleshooting: break it, then fix it live</a:t>
            </a:r>
            <a:endParaRPr lang="en-US" sz="3400" dirty="0"/>
          </a:p>
        </p:txBody>
      </p:sp>
      <p:sp>
        <p:nvSpPr>
          <p:cNvPr id="3" name="stage badge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stage icon" descr="Troubleshoo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47472" cy="347472"/>
          </a:xfrm>
          <a:prstGeom prst="rect">
            <a:avLst/>
          </a:prstGeom>
        </p:spPr>
      </p:pic>
      <p:sp>
        <p:nvSpPr>
          <p:cNvPr id="5" name="tracker 1"/>
          <p:cNvSpPr/>
          <p:nvPr/>
        </p:nvSpPr>
        <p:spPr>
          <a:xfrm>
            <a:off x="4709160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6" name="tracker 2"/>
          <p:cNvSpPr/>
          <p:nvPr/>
        </p:nvSpPr>
        <p:spPr>
          <a:xfrm>
            <a:off x="4928616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7" name="tracker 3"/>
          <p:cNvSpPr/>
          <p:nvPr/>
        </p:nvSpPr>
        <p:spPr>
          <a:xfrm>
            <a:off x="5148072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8" name="tracker 4"/>
          <p:cNvSpPr/>
          <p:nvPr/>
        </p:nvSpPr>
        <p:spPr>
          <a:xfrm>
            <a:off x="5367528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9" name="tracker 5"/>
          <p:cNvSpPr/>
          <p:nvPr/>
        </p:nvSpPr>
        <p:spPr>
          <a:xfrm>
            <a:off x="5586984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0" name="tracker 6"/>
          <p:cNvSpPr/>
          <p:nvPr/>
        </p:nvSpPr>
        <p:spPr>
          <a:xfrm>
            <a:off x="5806440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1" name="tracker 7"/>
          <p:cNvSpPr/>
          <p:nvPr/>
        </p:nvSpPr>
        <p:spPr>
          <a:xfrm>
            <a:off x="6025896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2" name="tracker 8"/>
          <p:cNvSpPr/>
          <p:nvPr/>
        </p:nvSpPr>
        <p:spPr>
          <a:xfrm>
            <a:off x="6245352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3" name="tracker 9"/>
          <p:cNvSpPr/>
          <p:nvPr/>
        </p:nvSpPr>
        <p:spPr>
          <a:xfrm>
            <a:off x="6464808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4" name="tracker 10"/>
          <p:cNvSpPr/>
          <p:nvPr/>
        </p:nvSpPr>
        <p:spPr>
          <a:xfrm>
            <a:off x="6684264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5" name="tracker 11"/>
          <p:cNvSpPr/>
          <p:nvPr/>
        </p:nvSpPr>
        <p:spPr>
          <a:xfrm>
            <a:off x="6903720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6" name="tracker 12"/>
          <p:cNvSpPr/>
          <p:nvPr/>
        </p:nvSpPr>
        <p:spPr>
          <a:xfrm>
            <a:off x="7123176" y="6455664"/>
            <a:ext cx="118872" cy="1188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7" name="tracker 13"/>
          <p:cNvSpPr/>
          <p:nvPr/>
        </p:nvSpPr>
        <p:spPr>
          <a:xfrm>
            <a:off x="7315200" y="6428232"/>
            <a:ext cx="173736" cy="173736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8" name="tracker label"/>
          <p:cNvSpPr txBox="1"/>
          <p:nvPr/>
        </p:nvSpPr>
        <p:spPr>
          <a:xfrm>
            <a:off x="7653528" y="63916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Stage 13 of 13 · Troubleshooting</a:t>
            </a:r>
            <a:endParaRPr lang="en-US" sz="1000" dirty="0"/>
          </a:p>
        </p:txBody>
      </p:sp>
      <p:sp>
        <p:nvSpPr>
          <p:cNvPr id="19" name="lab 1 card"/>
          <p:cNvSpPr/>
          <p:nvPr/>
        </p:nvSpPr>
        <p:spPr>
          <a:xfrm>
            <a:off x="548640" y="1417320"/>
            <a:ext cx="3502152" cy="4526280"/>
          </a:xfrm>
          <a:prstGeom prst="roundRect">
            <a:avLst>
              <a:gd name="adj" fmla="val 20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lab 1 icon circle"/>
          <p:cNvSpPr/>
          <p:nvPr/>
        </p:nvSpPr>
        <p:spPr>
          <a:xfrm>
            <a:off x="822960" y="169164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lab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828800"/>
            <a:ext cx="292608" cy="292608"/>
          </a:xfrm>
          <a:prstGeom prst="rect">
            <a:avLst/>
          </a:prstGeom>
        </p:spPr>
      </p:pic>
      <p:sp>
        <p:nvSpPr>
          <p:cNvPr id="22" name="lab 1 title"/>
          <p:cNvSpPr txBox="1"/>
          <p:nvPr/>
        </p:nvSpPr>
        <p:spPr>
          <a:xfrm>
            <a:off x="1536192" y="1673352"/>
            <a:ext cx="2313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ImagePullBackOff</a:t>
            </a:r>
            <a:endParaRPr lang="en-US" sz="1700" dirty="0"/>
          </a:p>
        </p:txBody>
      </p:sp>
      <p:sp>
        <p:nvSpPr>
          <p:cNvPr id="23" name="lab 1 SYMPTOM"/>
          <p:cNvSpPr txBox="1"/>
          <p:nvPr/>
        </p:nvSpPr>
        <p:spPr>
          <a:xfrm>
            <a:off x="822960" y="2514600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2"/>
                </a:solidFill>
              </a:rPr>
              <a:t>SYMPTOM</a:t>
            </a:r>
            <a:endParaRPr lang="en-US" sz="1100" dirty="0"/>
          </a:p>
        </p:txBody>
      </p:sp>
      <p:sp>
        <p:nvSpPr>
          <p:cNvPr id="24" name="lab 1 SYMPTOM text"/>
          <p:cNvSpPr txBox="1"/>
          <p:nvPr/>
        </p:nvSpPr>
        <p:spPr>
          <a:xfrm>
            <a:off x="822960" y="2770632"/>
            <a:ext cx="2953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Pod never starts</a:t>
            </a:r>
            <a:endParaRPr lang="en-US" sz="1400" dirty="0"/>
          </a:p>
        </p:txBody>
      </p:sp>
      <p:sp>
        <p:nvSpPr>
          <p:cNvPr id="25" name="lab 1 DIAGNOSE"/>
          <p:cNvSpPr txBox="1"/>
          <p:nvPr/>
        </p:nvSpPr>
        <p:spPr>
          <a:xfrm>
            <a:off x="822960" y="3355848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2"/>
                </a:solidFill>
              </a:rPr>
              <a:t>DIAGNOSE</a:t>
            </a:r>
            <a:endParaRPr lang="en-US" sz="1100" dirty="0"/>
          </a:p>
        </p:txBody>
      </p:sp>
      <p:sp>
        <p:nvSpPr>
          <p:cNvPr id="26" name="lab 1 DIAGNOSE text"/>
          <p:cNvSpPr txBox="1"/>
          <p:nvPr/>
        </p:nvSpPr>
        <p:spPr>
          <a:xfrm>
            <a:off x="822960" y="3611880"/>
            <a:ext cx="2953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kubectl describe pod → Events</a:t>
            </a:r>
            <a:endParaRPr lang="en-US" sz="1400" dirty="0"/>
          </a:p>
        </p:txBody>
      </p:sp>
      <p:sp>
        <p:nvSpPr>
          <p:cNvPr id="27" name="lab 1 ROOT CAUSE"/>
          <p:cNvSpPr txBox="1"/>
          <p:nvPr/>
        </p:nvSpPr>
        <p:spPr>
          <a:xfrm>
            <a:off x="822960" y="4197096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2"/>
                </a:solidFill>
              </a:rPr>
              <a:t>ROOT CAUSE</a:t>
            </a:r>
            <a:endParaRPr lang="en-US" sz="1100" dirty="0"/>
          </a:p>
        </p:txBody>
      </p:sp>
      <p:sp>
        <p:nvSpPr>
          <p:cNvPr id="28" name="lab 1 ROOT CAUSE text"/>
          <p:cNvSpPr txBox="1"/>
          <p:nvPr/>
        </p:nvSpPr>
        <p:spPr>
          <a:xfrm>
            <a:off x="822960" y="4453128"/>
            <a:ext cx="2953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Image tag does not exist</a:t>
            </a:r>
            <a:endParaRPr lang="en-US" sz="1400" dirty="0"/>
          </a:p>
        </p:txBody>
      </p:sp>
      <p:sp>
        <p:nvSpPr>
          <p:cNvPr id="29" name="lab 1 FIX"/>
          <p:cNvSpPr txBox="1"/>
          <p:nvPr/>
        </p:nvSpPr>
        <p:spPr>
          <a:xfrm>
            <a:off x="822960" y="5038344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2"/>
                </a:solidFill>
              </a:rPr>
              <a:t>FIX</a:t>
            </a:r>
            <a:endParaRPr lang="en-US" sz="1100" dirty="0"/>
          </a:p>
        </p:txBody>
      </p:sp>
      <p:sp>
        <p:nvSpPr>
          <p:cNvPr id="30" name="lab 1 FIX text"/>
          <p:cNvSpPr txBox="1"/>
          <p:nvPr/>
        </p:nvSpPr>
        <p:spPr>
          <a:xfrm>
            <a:off x="822960" y="5294376"/>
            <a:ext cx="2953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Point the Deployment at a real SHA tag</a:t>
            </a:r>
            <a:endParaRPr lang="en-US" sz="1400" dirty="0"/>
          </a:p>
        </p:txBody>
      </p:sp>
      <p:sp>
        <p:nvSpPr>
          <p:cNvPr id="31" name="lab 2 card"/>
          <p:cNvSpPr/>
          <p:nvPr/>
        </p:nvSpPr>
        <p:spPr>
          <a:xfrm>
            <a:off x="4343400" y="1417320"/>
            <a:ext cx="3502152" cy="4526280"/>
          </a:xfrm>
          <a:prstGeom prst="roundRect">
            <a:avLst>
              <a:gd name="adj" fmla="val 20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lab 2 icon circle"/>
          <p:cNvSpPr/>
          <p:nvPr/>
        </p:nvSpPr>
        <p:spPr>
          <a:xfrm>
            <a:off x="4617720" y="169164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3" name="lab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828800"/>
            <a:ext cx="292608" cy="292608"/>
          </a:xfrm>
          <a:prstGeom prst="rect">
            <a:avLst/>
          </a:prstGeom>
        </p:spPr>
      </p:pic>
      <p:sp>
        <p:nvSpPr>
          <p:cNvPr id="34" name="lab 2 title"/>
          <p:cNvSpPr txBox="1"/>
          <p:nvPr/>
        </p:nvSpPr>
        <p:spPr>
          <a:xfrm>
            <a:off x="5330952" y="1673352"/>
            <a:ext cx="2313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Service with no endpoints</a:t>
            </a:r>
            <a:endParaRPr lang="en-US" sz="1700" dirty="0"/>
          </a:p>
        </p:txBody>
      </p:sp>
      <p:sp>
        <p:nvSpPr>
          <p:cNvPr id="35" name="lab 2 SYMPTOM"/>
          <p:cNvSpPr txBox="1"/>
          <p:nvPr/>
        </p:nvSpPr>
        <p:spPr>
          <a:xfrm>
            <a:off x="4617720" y="2514600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2"/>
                </a:solidFill>
              </a:rPr>
              <a:t>SYMPTOM</a:t>
            </a:r>
            <a:endParaRPr lang="en-US" sz="1100" dirty="0"/>
          </a:p>
        </p:txBody>
      </p:sp>
      <p:sp>
        <p:nvSpPr>
          <p:cNvPr id="36" name="lab 2 SYMPTOM text"/>
          <p:cNvSpPr txBox="1"/>
          <p:nvPr/>
        </p:nvSpPr>
        <p:spPr>
          <a:xfrm>
            <a:off x="4617720" y="2770632"/>
            <a:ext cx="2953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Requests time out</a:t>
            </a:r>
            <a:endParaRPr lang="en-US" sz="1400" dirty="0"/>
          </a:p>
        </p:txBody>
      </p:sp>
      <p:sp>
        <p:nvSpPr>
          <p:cNvPr id="37" name="lab 2 DIAGNOSE"/>
          <p:cNvSpPr txBox="1"/>
          <p:nvPr/>
        </p:nvSpPr>
        <p:spPr>
          <a:xfrm>
            <a:off x="4617720" y="3355848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2"/>
                </a:solidFill>
              </a:rPr>
              <a:t>DIAGNOSE</a:t>
            </a:r>
            <a:endParaRPr lang="en-US" sz="1100" dirty="0"/>
          </a:p>
        </p:txBody>
      </p:sp>
      <p:sp>
        <p:nvSpPr>
          <p:cNvPr id="38" name="lab 2 DIAGNOSE text"/>
          <p:cNvSpPr txBox="1"/>
          <p:nvPr/>
        </p:nvSpPr>
        <p:spPr>
          <a:xfrm>
            <a:off x="4617720" y="3611880"/>
            <a:ext cx="2953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kubectl get endpointslices</a:t>
            </a:r>
            <a:endParaRPr lang="en-US" sz="1400" dirty="0"/>
          </a:p>
        </p:txBody>
      </p:sp>
      <p:sp>
        <p:nvSpPr>
          <p:cNvPr id="39" name="lab 2 ROOT CAUSE"/>
          <p:cNvSpPr txBox="1"/>
          <p:nvPr/>
        </p:nvSpPr>
        <p:spPr>
          <a:xfrm>
            <a:off x="4617720" y="4197096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2"/>
                </a:solidFill>
              </a:rPr>
              <a:t>ROOT CAUSE</a:t>
            </a:r>
            <a:endParaRPr lang="en-US" sz="1100" dirty="0"/>
          </a:p>
        </p:txBody>
      </p:sp>
      <p:sp>
        <p:nvSpPr>
          <p:cNvPr id="40" name="lab 2 ROOT CAUSE text"/>
          <p:cNvSpPr txBox="1"/>
          <p:nvPr/>
        </p:nvSpPr>
        <p:spPr>
          <a:xfrm>
            <a:off x="4617720" y="4453128"/>
            <a:ext cx="2953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Selector matches no pod labels</a:t>
            </a:r>
            <a:endParaRPr lang="en-US" sz="1400" dirty="0"/>
          </a:p>
        </p:txBody>
      </p:sp>
      <p:sp>
        <p:nvSpPr>
          <p:cNvPr id="41" name="lab 2 FIX"/>
          <p:cNvSpPr txBox="1"/>
          <p:nvPr/>
        </p:nvSpPr>
        <p:spPr>
          <a:xfrm>
            <a:off x="4617720" y="5038344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2"/>
                </a:solidFill>
              </a:rPr>
              <a:t>FIX</a:t>
            </a:r>
            <a:endParaRPr lang="en-US" sz="1100" dirty="0"/>
          </a:p>
        </p:txBody>
      </p:sp>
      <p:sp>
        <p:nvSpPr>
          <p:cNvPr id="42" name="lab 2 FIX text"/>
          <p:cNvSpPr txBox="1"/>
          <p:nvPr/>
        </p:nvSpPr>
        <p:spPr>
          <a:xfrm>
            <a:off x="4617720" y="5294376"/>
            <a:ext cx="2953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Fix the selector: component=backend</a:t>
            </a:r>
            <a:endParaRPr lang="en-US" sz="1400" dirty="0"/>
          </a:p>
        </p:txBody>
      </p:sp>
      <p:sp>
        <p:nvSpPr>
          <p:cNvPr id="43" name="lab 3 card"/>
          <p:cNvSpPr/>
          <p:nvPr/>
        </p:nvSpPr>
        <p:spPr>
          <a:xfrm>
            <a:off x="8138160" y="1417320"/>
            <a:ext cx="3502152" cy="4526280"/>
          </a:xfrm>
          <a:prstGeom prst="roundRect">
            <a:avLst>
              <a:gd name="adj" fmla="val 20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4" name="lab 3 icon circle"/>
          <p:cNvSpPr/>
          <p:nvPr/>
        </p:nvSpPr>
        <p:spPr>
          <a:xfrm>
            <a:off x="8412480" y="169164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5" name="lab 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0" y="1828800"/>
            <a:ext cx="292608" cy="292608"/>
          </a:xfrm>
          <a:prstGeom prst="rect">
            <a:avLst/>
          </a:prstGeom>
        </p:spPr>
      </p:pic>
      <p:sp>
        <p:nvSpPr>
          <p:cNvPr id="46" name="lab 3 title"/>
          <p:cNvSpPr txBox="1"/>
          <p:nvPr/>
        </p:nvSpPr>
        <p:spPr>
          <a:xfrm>
            <a:off x="9125712" y="1673352"/>
            <a:ext cx="2313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Running but not Ready</a:t>
            </a:r>
            <a:endParaRPr lang="en-US" sz="1700" dirty="0"/>
          </a:p>
        </p:txBody>
      </p:sp>
      <p:sp>
        <p:nvSpPr>
          <p:cNvPr id="47" name="lab 3 SYMPTOM"/>
          <p:cNvSpPr txBox="1"/>
          <p:nvPr/>
        </p:nvSpPr>
        <p:spPr>
          <a:xfrm>
            <a:off x="8412480" y="2514600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2"/>
                </a:solidFill>
              </a:rPr>
              <a:t>SYMPTOM</a:t>
            </a:r>
            <a:endParaRPr lang="en-US" sz="1100" dirty="0"/>
          </a:p>
        </p:txBody>
      </p:sp>
      <p:sp>
        <p:nvSpPr>
          <p:cNvPr id="48" name="lab 3 SYMPTOM text"/>
          <p:cNvSpPr txBox="1"/>
          <p:nvPr/>
        </p:nvSpPr>
        <p:spPr>
          <a:xfrm>
            <a:off x="8412480" y="2770632"/>
            <a:ext cx="2953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0/1 READY, no restarts</a:t>
            </a:r>
            <a:endParaRPr lang="en-US" sz="1400" dirty="0"/>
          </a:p>
        </p:txBody>
      </p:sp>
      <p:sp>
        <p:nvSpPr>
          <p:cNvPr id="49" name="lab 3 DIAGNOSE"/>
          <p:cNvSpPr txBox="1"/>
          <p:nvPr/>
        </p:nvSpPr>
        <p:spPr>
          <a:xfrm>
            <a:off x="8412480" y="3355848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2"/>
                </a:solidFill>
              </a:rPr>
              <a:t>DIAGNOSE</a:t>
            </a:r>
            <a:endParaRPr lang="en-US" sz="1100" dirty="0"/>
          </a:p>
        </p:txBody>
      </p:sp>
      <p:sp>
        <p:nvSpPr>
          <p:cNvPr id="50" name="lab 3 DIAGNOSE text"/>
          <p:cNvSpPr txBox="1"/>
          <p:nvPr/>
        </p:nvSpPr>
        <p:spPr>
          <a:xfrm>
            <a:off x="8412480" y="3611880"/>
            <a:ext cx="2953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describe → readiness 503</a:t>
            </a:r>
            <a:endParaRPr lang="en-US" sz="1400" dirty="0"/>
          </a:p>
        </p:txBody>
      </p:sp>
      <p:sp>
        <p:nvSpPr>
          <p:cNvPr id="51" name="lab 3 ROOT CAUSE"/>
          <p:cNvSpPr txBox="1"/>
          <p:nvPr/>
        </p:nvSpPr>
        <p:spPr>
          <a:xfrm>
            <a:off x="8412480" y="4197096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2"/>
                </a:solidFill>
              </a:rPr>
              <a:t>ROOT CAUSE</a:t>
            </a:r>
            <a:endParaRPr lang="en-US" sz="1100" dirty="0"/>
          </a:p>
        </p:txBody>
      </p:sp>
      <p:sp>
        <p:nvSpPr>
          <p:cNvPr id="52" name="lab 3 ROOT CAUSE text"/>
          <p:cNvSpPr txBox="1"/>
          <p:nvPr/>
        </p:nvSpPr>
        <p:spPr>
          <a:xfrm>
            <a:off x="8412480" y="4453128"/>
            <a:ext cx="2953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Database unreachable</a:t>
            </a:r>
            <a:endParaRPr lang="en-US" sz="1400" dirty="0"/>
          </a:p>
        </p:txBody>
      </p:sp>
      <p:sp>
        <p:nvSpPr>
          <p:cNvPr id="53" name="lab 3 FIX"/>
          <p:cNvSpPr txBox="1"/>
          <p:nvPr/>
        </p:nvSpPr>
        <p:spPr>
          <a:xfrm>
            <a:off x="8412480" y="5038344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2"/>
                </a:solidFill>
              </a:rPr>
              <a:t>FIX</a:t>
            </a:r>
            <a:endParaRPr lang="en-US" sz="1100" dirty="0"/>
          </a:p>
        </p:txBody>
      </p:sp>
      <p:sp>
        <p:nvSpPr>
          <p:cNvPr id="54" name="lab 3 FIX text"/>
          <p:cNvSpPr txBox="1"/>
          <p:nvPr/>
        </p:nvSpPr>
        <p:spPr>
          <a:xfrm>
            <a:off x="8412480" y="5294376"/>
            <a:ext cx="2953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Fix DATABASE_URL; liveness ≠ readiness</a:t>
            </a:r>
            <a:endParaRPr lang="en-US" sz="1400" dirty="0"/>
          </a:p>
        </p:txBody>
      </p:sp>
      <p:sp>
        <p:nvSpPr>
          <p:cNvPr id="55" name="labs footnote"/>
          <p:cNvSpPr txBox="1"/>
          <p:nvPr/>
        </p:nvSpPr>
        <p:spPr>
          <a:xfrm>
            <a:off x="548640" y="60167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Manifests and step-by-step guide: troubleshooting/README.md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Real problems I hit on AWS, and how I fixed them</a:t>
            </a:r>
            <a:endParaRPr lang="en-US" sz="3400" dirty="0"/>
          </a:p>
        </p:txBody>
      </p:sp>
      <p:graphicFrame>
        <p:nvGraphicFramePr>
          <p:cNvPr id="19" name="inciden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959352"/>
                <a:gridCol w="32918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Problem</a:t>
                      </a:r>
                      <a:endParaRPr lang="en-US" sz="15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Root cause</a:t>
                      </a:r>
                      <a:endParaRPr lang="en-US" sz="15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Fix</a:t>
                      </a:r>
                      <a:endParaRPr lang="en-US" sz="15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Node group created, but no nodes ever joined</a:t>
                      </a:r>
                      <a:endParaRPr lang="en-US" sz="15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AWS Free plan only launches Free-Tier instance types</a:t>
                      </a:r>
                      <a:endParaRPr lang="en-US" sz="15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Switched t3.medium → c7i-flex.large</a:t>
                      </a:r>
                      <a:endParaRPr lang="en-US" sz="15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Ingress load balancer stuck in &lt;pending&gt;</a:t>
                      </a:r>
                      <a:endParaRPr lang="en-US" sz="15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New accounts can't create NLB/ALB yet</a:t>
                      </a:r>
                      <a:endParaRPr lang="en-US" sz="15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Classic load balancer for Traefik</a:t>
                      </a:r>
                      <a:endParaRPr lang="en-US" sz="15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CI deploy: AssumeRoleWithWebIdentity denied</a:t>
                      </a:r>
                      <a:endParaRPr lang="en-US" sz="15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GitHub's OIDC subject now carries repo and owner IDs</a:t>
                      </a:r>
                      <a:endParaRPr lang="en-US" sz="15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Trust policy accepts both subject formats</a:t>
                      </a:r>
                      <a:endParaRPr lang="en-US" sz="15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Grafana showed all traffic as 4xx</a:t>
                      </a:r>
                      <a:endParaRPr lang="en-US" sz="15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 stacked panel drew an idle series on top</a:t>
                      </a:r>
                      <a:endParaRPr lang="en-US" sz="15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Unstacked panels, fixed status colours</a:t>
                      </a:r>
                      <a:endParaRPr lang="en-US" sz="15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Laptop couldn't reach the EKS API</a:t>
                      </a:r>
                      <a:endParaRPr lang="en-US" sz="15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Local DNS failed to resolve eks.ap-south-1</a:t>
                      </a:r>
                      <a:endParaRPr lang="en-US" sz="15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Ran the tools in Docker with public DNS</a:t>
                      </a:r>
                      <a:endParaRPr lang="en-US" sz="15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incidents footnote"/>
          <p:cNvSpPr txBox="1"/>
          <p:nvPr/>
        </p:nvSpPr>
        <p:spPr>
          <a:xfrm>
            <a:off x="548640" y="601675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Each fix is a commit in the repo with the reasoning in its message.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82296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Thank you: now the live demo</a:t>
            </a:r>
            <a:endParaRPr lang="en-US" sz="4800" dirty="0"/>
          </a:p>
        </p:txBody>
      </p:sp>
      <p:sp>
        <p:nvSpPr>
          <p:cNvPr id="3" name="closing 1 circle"/>
          <p:cNvSpPr/>
          <p:nvPr/>
        </p:nvSpPr>
        <p:spPr>
          <a:xfrm>
            <a:off x="731520" y="214884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closing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304288"/>
            <a:ext cx="329184" cy="329184"/>
          </a:xfrm>
          <a:prstGeom prst="rect">
            <a:avLst/>
          </a:prstGeom>
        </p:spPr>
      </p:pic>
      <p:sp>
        <p:nvSpPr>
          <p:cNvPr id="5" name="closing 1 text"/>
          <p:cNvSpPr txBox="1"/>
          <p:nvPr/>
        </p:nvSpPr>
        <p:spPr>
          <a:xfrm>
            <a:off x="1600200" y="210312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Repository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github.com/Astro-Dude/staydesk</a:t>
            </a:r>
            <a:endParaRPr lang="en-US" sz="1700" dirty="0"/>
          </a:p>
        </p:txBody>
      </p:sp>
      <p:sp>
        <p:nvSpPr>
          <p:cNvPr id="6" name="closing 2 circle"/>
          <p:cNvSpPr/>
          <p:nvPr/>
        </p:nvSpPr>
        <p:spPr>
          <a:xfrm>
            <a:off x="731520" y="3081528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closing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236976"/>
            <a:ext cx="329184" cy="329184"/>
          </a:xfrm>
          <a:prstGeom prst="rect">
            <a:avLst/>
          </a:prstGeom>
        </p:spPr>
      </p:pic>
      <p:sp>
        <p:nvSpPr>
          <p:cNvPr id="8" name="closing 2 text"/>
          <p:cNvSpPr txBox="1"/>
          <p:nvPr/>
        </p:nvSpPr>
        <p:spPr>
          <a:xfrm>
            <a:off x="1600200" y="3035808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Pipeline run #5 (EKS deploy)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github.com/Astro-Dude/staydesk/actions/runs/38954572064</a:t>
            </a:r>
            <a:endParaRPr lang="en-US" sz="1700" dirty="0"/>
          </a:p>
        </p:txBody>
      </p:sp>
      <p:sp>
        <p:nvSpPr>
          <p:cNvPr id="9" name="closing 3 circle"/>
          <p:cNvSpPr/>
          <p:nvPr/>
        </p:nvSpPr>
        <p:spPr>
          <a:xfrm>
            <a:off x="731520" y="4014216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closing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169664"/>
            <a:ext cx="329184" cy="329184"/>
          </a:xfrm>
          <a:prstGeom prst="rect">
            <a:avLst/>
          </a:prstGeom>
        </p:spPr>
      </p:pic>
      <p:sp>
        <p:nvSpPr>
          <p:cNvPr id="11" name="closing 3 text"/>
          <p:cNvSpPr txBox="1"/>
          <p:nvPr/>
        </p:nvSpPr>
        <p:spPr>
          <a:xfrm>
            <a:off x="1600200" y="3968496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Evidence for every module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docs/EVIDENCE.md · 40+ real screenshots</a:t>
            </a:r>
            <a:endParaRPr lang="en-US" sz="1700" dirty="0"/>
          </a:p>
        </p:txBody>
      </p:sp>
      <p:sp>
        <p:nvSpPr>
          <p:cNvPr id="12" name="closing 4 circle"/>
          <p:cNvSpPr/>
          <p:nvPr/>
        </p:nvSpPr>
        <p:spPr>
          <a:xfrm>
            <a:off x="731520" y="4946904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closing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5102352"/>
            <a:ext cx="329184" cy="329184"/>
          </a:xfrm>
          <a:prstGeom prst="rect">
            <a:avLst/>
          </a:prstGeom>
        </p:spPr>
      </p:pic>
      <p:sp>
        <p:nvSpPr>
          <p:cNvPr id="14" name="closing 4 text"/>
          <p:cNvSpPr txBox="1"/>
          <p:nvPr/>
        </p:nvSpPr>
        <p:spPr>
          <a:xfrm>
            <a:off x="1600200" y="4901184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AWS cleaned up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61 resources destroyed · ≈ $0.40 total cost</a:t>
            </a:r>
            <a:endParaRPr lang="en-US" sz="1700" dirty="0"/>
          </a:p>
        </p:txBody>
      </p:sp>
      <p:sp>
        <p:nvSpPr>
          <p:cNvPr id="15" name="demo order card"/>
          <p:cNvSpPr/>
          <p:nvPr/>
        </p:nvSpPr>
        <p:spPr>
          <a:xfrm>
            <a:off x="8183880" y="2148840"/>
            <a:ext cx="3474720" cy="2788920"/>
          </a:xfrm>
          <a:prstGeom prst="roundRect">
            <a:avLst>
              <a:gd name="adj" fmla="val 262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demo order"/>
          <p:cNvSpPr txBox="1"/>
          <p:nvPr/>
        </p:nvSpPr>
        <p:spPr>
          <a:xfrm>
            <a:off x="8458200" y="233172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Demo order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1. Commit a visible change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2. Watch the pipeline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3. New SHA in the UI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4. Load test → HPA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5. Grafana reacts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6. Break a Service, fix it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yDesk">
  <a:themeElements>
    <a:clrScheme name="StayDesk">
      <a:dk1>
        <a:srgbClr val="1B2629"/>
      </a:dk1>
      <a:lt1>
        <a:srgbClr val="FFFFFF"/>
      </a:lt1>
      <a:dk2>
        <a:srgbClr val="0F2B2F"/>
      </a:dk2>
      <a:lt2>
        <a:srgbClr val="EEF4F3"/>
      </a:lt2>
      <a:accent1>
        <a:srgbClr val="1D6B66"/>
      </a:accent1>
      <a:accent2>
        <a:srgbClr val="C8873A"/>
      </a:accent2>
      <a:accent3>
        <a:srgbClr val="2C62C4"/>
      </a:accent3>
      <a:accent4>
        <a:srgbClr val="1D8152"/>
      </a:accent4>
      <a:accent5>
        <a:srgbClr val="BF3F37"/>
      </a:accent5>
      <a:accent6>
        <a:srgbClr val="6A7477"/>
      </a:accent6>
      <a:hlink>
        <a:srgbClr val="1D6B66"/>
      </a:hlink>
      <a:folHlink>
        <a:srgbClr val="165752"/>
      </a:folHlink>
    </a:clrScheme>
    <a:fontScheme name="StayDes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StayDesk — DevOps Final Capstone</dc:title>
  <dc:subject>Session 21 final presentation</dc:subject>
  <dc:creator>Shaurya Verma</dc:creator>
  <cp:lastModifiedBy>Shaurya Verma</cp:lastModifiedBy>
  <cp:revision>1</cp:revision>
  <dcterms:created xsi:type="dcterms:W3CDTF">2026-10-18T19:33:08Z</dcterms:created>
  <dcterms:modified xsi:type="dcterms:W3CDTF">2026-10-18T19:33:08Z</dcterms:modified>
</cp:coreProperties>
</file>